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6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키 설정</a:t>
            </a:r>
            <a:endParaRPr lang="en-US" altLang="ko-KR" sz="16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행동력</a:t>
            </a:r>
            <a:r>
              <a:rPr lang="en-US" altLang="ko-KR" sz="1600" dirty="0"/>
              <a:t>(AP) </a:t>
            </a:r>
            <a:r>
              <a:rPr lang="ko-KR" altLang="en-US" sz="1600" dirty="0"/>
              <a:t>규칙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턴 흐름 및 적 </a:t>
            </a:r>
            <a:r>
              <a:rPr lang="en-US" altLang="ko-KR" sz="1600" dirty="0"/>
              <a:t>AI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속성 및 지형변화</a:t>
            </a:r>
            <a:r>
              <a:rPr lang="en-US" altLang="ko-KR" sz="1600" dirty="0"/>
              <a:t>, </a:t>
            </a:r>
            <a:r>
              <a:rPr lang="ko-KR" altLang="en-US" sz="1600" dirty="0"/>
              <a:t>연쇄반응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마법</a:t>
            </a:r>
            <a:r>
              <a:rPr lang="en-US" altLang="ko-KR" sz="1600" dirty="0"/>
              <a:t>/</a:t>
            </a:r>
            <a:r>
              <a:rPr lang="ko-KR" altLang="en-US" sz="1600" dirty="0"/>
              <a:t>덱 컨셉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00B050"/>
                </a:solidFill>
              </a:rPr>
              <a:t>슬라임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>
                <a:solidFill>
                  <a:srgbClr val="00B050"/>
                </a:solidFill>
              </a:rPr>
              <a:t>고블린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/>
              <a:t>키 설정</a:t>
            </a:r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거점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D48F-7878-3CC2-F304-CEC6A483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F80A-2F28-65E2-BC02-9B6CEEA2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4.2. 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00A0C-45B2-032B-D2D9-3F7E3F691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거점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상점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1328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D32E-EE75-FDE7-2D46-48EF3C61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6C6A5-8613-CDF6-B5A3-B507D133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4.3. </a:t>
            </a:r>
            <a:r>
              <a:rPr lang="ko-KR" altLang="en-US" dirty="0"/>
              <a:t>키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B6F4C-A582-4AA6-57F6-9306CF87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기지 및 상점 </a:t>
            </a:r>
            <a:r>
              <a:rPr lang="en-US" altLang="ko-KR" sz="2000" dirty="0"/>
              <a:t>– WASD</a:t>
            </a:r>
            <a:r>
              <a:rPr lang="ko-KR" altLang="en-US" sz="2000" dirty="0"/>
              <a:t>를 이용한 캐릭터 직접 조작 및 상호작용 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 </a:t>
            </a:r>
            <a:r>
              <a:rPr lang="en-US" altLang="ko-KR" sz="2000" dirty="0"/>
              <a:t>– </a:t>
            </a:r>
            <a:r>
              <a:rPr lang="ko-KR" altLang="en-US" sz="2000" dirty="0"/>
              <a:t>마우스</a:t>
            </a:r>
            <a:r>
              <a:rPr lang="en-US" altLang="ko-KR" sz="2000" dirty="0"/>
              <a:t>:</a:t>
            </a:r>
            <a:r>
              <a:rPr lang="ko-KR" altLang="en-US" sz="2000" dirty="0"/>
              <a:t> 카드 사용 및 타일 이동 지시</a:t>
            </a:r>
            <a:r>
              <a:rPr lang="en-US" altLang="ko-KR" sz="2000" dirty="0"/>
              <a:t>, UI</a:t>
            </a:r>
            <a:r>
              <a:rPr lang="ko-KR" altLang="en-US" sz="2000" dirty="0"/>
              <a:t>버튼 클릭 등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  <a:br>
              <a:rPr lang="en-US" altLang="ko-KR" sz="2000" dirty="0"/>
            </a:br>
            <a:r>
              <a:rPr lang="en-US" altLang="ko-KR" sz="2000" dirty="0"/>
              <a:t>	  </a:t>
            </a:r>
            <a:r>
              <a:rPr lang="ko-KR" altLang="en-US" sz="2000" dirty="0"/>
              <a:t>키보드</a:t>
            </a:r>
            <a:r>
              <a:rPr lang="en-US" altLang="ko-KR" sz="2000" dirty="0"/>
              <a:t>:</a:t>
            </a:r>
            <a:r>
              <a:rPr lang="ko-KR" altLang="en-US" sz="2000" dirty="0"/>
              <a:t> 카드 및 턴 종료 등 단축키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공통 시스템 </a:t>
            </a:r>
            <a:r>
              <a:rPr lang="en-US" altLang="ko-KR" sz="2000" dirty="0"/>
              <a:t>– </a:t>
            </a:r>
            <a:r>
              <a:rPr lang="ko-KR" altLang="en-US" sz="2000" dirty="0"/>
              <a:t>일시정지</a:t>
            </a:r>
            <a:r>
              <a:rPr lang="en-US" altLang="ko-KR" sz="2000" dirty="0"/>
              <a:t>, </a:t>
            </a:r>
            <a:r>
              <a:rPr lang="ko-KR" altLang="en-US" sz="2000" dirty="0"/>
              <a:t>지도 </a:t>
            </a:r>
            <a:r>
              <a:rPr lang="en-US" altLang="ko-KR" sz="2000" dirty="0"/>
              <a:t>UI </a:t>
            </a:r>
            <a:r>
              <a:rPr lang="ko-KR" altLang="en-US" sz="2000" dirty="0"/>
              <a:t>등 시스템 입력 담당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393712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C262B-9941-37B4-D5FF-BF504532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24A78-F25B-D0B5-3CD4-65842E6F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Game System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614E0-97FA-74D3-9722-4415C702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/>
              <a:t>5.1. </a:t>
            </a:r>
            <a:r>
              <a:rPr lang="ko-KR" altLang="en-US" sz="2000" dirty="0"/>
              <a:t>행동력 </a:t>
            </a:r>
            <a:r>
              <a:rPr lang="en-US" altLang="ko-KR" sz="2000" dirty="0"/>
              <a:t>(AP)</a:t>
            </a:r>
            <a:r>
              <a:rPr lang="ko-KR" altLang="en-US" sz="2000" dirty="0"/>
              <a:t> 규칙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5.2. </a:t>
            </a:r>
            <a:r>
              <a:rPr lang="ko-KR" altLang="en-US" sz="2000" dirty="0"/>
              <a:t>턴 흐름 및 적 </a:t>
            </a:r>
            <a:r>
              <a:rPr lang="en-US" altLang="ko-KR" sz="2000" dirty="0"/>
              <a:t>AI</a:t>
            </a:r>
          </a:p>
          <a:p>
            <a:pPr>
              <a:lnSpc>
                <a:spcPct val="150000"/>
              </a:lnSpc>
            </a:pPr>
            <a:r>
              <a:rPr lang="en-US" altLang="ko-KR" sz="2000" dirty="0"/>
              <a:t>5.3. </a:t>
            </a:r>
            <a:r>
              <a:rPr lang="ko-KR" altLang="en-US" sz="2000" dirty="0"/>
              <a:t>속성 및 지형 변화</a:t>
            </a:r>
            <a:r>
              <a:rPr lang="en-US" altLang="ko-KR" sz="2000" dirty="0"/>
              <a:t>, </a:t>
            </a:r>
            <a:r>
              <a:rPr lang="ko-KR" altLang="en-US" sz="2000" dirty="0"/>
              <a:t>연쇄 반응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000" dirty="0"/>
              <a:t>5.4. </a:t>
            </a:r>
            <a:r>
              <a:rPr lang="ko-KR" altLang="en-US" sz="2000" dirty="0"/>
              <a:t>마법</a:t>
            </a:r>
            <a:r>
              <a:rPr lang="en-US" altLang="ko-KR" sz="2000" dirty="0"/>
              <a:t>/</a:t>
            </a:r>
            <a:r>
              <a:rPr lang="ko-KR" altLang="en-US" sz="2000" dirty="0"/>
              <a:t>덱 컨셉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26688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0843A-3304-6892-ACF5-C65B740A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A207B-4364-CBC0-A6A3-4A1161AD2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 </a:t>
            </a:r>
            <a:r>
              <a:rPr lang="ko-KR" altLang="en-US" dirty="0"/>
              <a:t>행동력 </a:t>
            </a:r>
            <a:r>
              <a:rPr lang="en-US" altLang="ko-KR" dirty="0"/>
              <a:t>(AP) </a:t>
            </a:r>
            <a:r>
              <a:rPr lang="ko-KR" altLang="en-US" dirty="0"/>
              <a:t>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923786-BE50-22F0-8BE4-74AA14DB8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dirty="0"/>
              <a:t>플레이어와 적은 이동 및 스킬 사용에 소모되는 'AP(행동력)’</a:t>
            </a:r>
            <a:r>
              <a:rPr lang="ko-KR" altLang="ko-KR" sz="2000" dirty="0" err="1"/>
              <a:t>를</a:t>
            </a:r>
            <a:r>
              <a:rPr lang="ko-KR" altLang="ko-KR" sz="2000" dirty="0"/>
              <a:t> 공통 자원으로 </a:t>
            </a:r>
            <a:br>
              <a:rPr lang="en-US" altLang="ko-KR" sz="2000" dirty="0"/>
            </a:br>
            <a:r>
              <a:rPr lang="ko-KR" altLang="ko-KR" sz="2000" dirty="0"/>
              <a:t>사용</a:t>
            </a:r>
            <a:r>
              <a:rPr lang="ko-KR" altLang="en-US" sz="2000" dirty="0"/>
              <a:t>한다</a:t>
            </a:r>
            <a:r>
              <a:rPr lang="ko-KR" altLang="ko-KR" sz="2000" dirty="0"/>
              <a:t>.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최대 이동 사거리</a:t>
            </a:r>
            <a:r>
              <a:rPr lang="en-US" altLang="ko-KR" sz="2000" dirty="0"/>
              <a:t>(</a:t>
            </a:r>
            <a:r>
              <a:rPr lang="ko-KR" altLang="en-US" sz="2000" dirty="0"/>
              <a:t>스탯</a:t>
            </a:r>
            <a:r>
              <a:rPr lang="en-US" altLang="ko-KR" sz="2000" dirty="0"/>
              <a:t>) </a:t>
            </a:r>
            <a:r>
              <a:rPr lang="ko-KR" altLang="en-US" sz="2000" dirty="0"/>
              <a:t>만큼의 이동마다 </a:t>
            </a:r>
            <a:r>
              <a:rPr lang="en-US" altLang="ko-KR" sz="2000" dirty="0"/>
              <a:t>1AP</a:t>
            </a:r>
            <a:r>
              <a:rPr lang="ko-KR" altLang="en-US" sz="2000" dirty="0"/>
              <a:t>가 소모되며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br>
              <a:rPr lang="en-US" altLang="ko-KR" sz="2000" dirty="0"/>
            </a:br>
            <a:r>
              <a:rPr lang="ko-KR" altLang="en-US" sz="2000" dirty="0"/>
              <a:t>마법</a:t>
            </a:r>
            <a:r>
              <a:rPr lang="en-US" altLang="ko-KR" sz="2000" dirty="0"/>
              <a:t>(</a:t>
            </a:r>
            <a:r>
              <a:rPr lang="ko-KR" altLang="en-US" sz="2000" dirty="0"/>
              <a:t>카드</a:t>
            </a:r>
            <a:r>
              <a:rPr lang="en-US" altLang="ko-KR" sz="2000" dirty="0"/>
              <a:t>) </a:t>
            </a:r>
            <a:r>
              <a:rPr lang="ko-KR" altLang="en-US" sz="2000" dirty="0"/>
              <a:t>사용 시에도 카드별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507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FF5A0-ECEA-7902-DC88-36B2460B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C4620-0D17-F93A-EE80-88F458A3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턴 흐름 및 적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3CEC6-5BEA-B111-6FD4-8FAC8B6B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b="1" dirty="0"/>
              <a:t>플레이어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매 턴 기본 드로우를 획득하고</a:t>
            </a:r>
            <a:r>
              <a:rPr lang="en-US" altLang="ko-KR" sz="2000" dirty="0"/>
              <a:t>, AP</a:t>
            </a:r>
            <a:r>
              <a:rPr lang="ko-KR" altLang="en-US" sz="2000" dirty="0"/>
              <a:t>를 소모해 마법을 사용하거나 이동한다</a:t>
            </a:r>
            <a:r>
              <a:rPr lang="en-US" altLang="ko-KR" sz="2000" dirty="0"/>
              <a:t>.</a:t>
            </a:r>
            <a:br>
              <a:rPr lang="en-US" altLang="ko-KR" sz="2000" dirty="0"/>
            </a:br>
            <a:r>
              <a:rPr lang="ko-KR" altLang="en-US" sz="2000" dirty="0"/>
              <a:t>턴 종료 시 들고 있던 카드를 버린다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b="1" dirty="0"/>
              <a:t>적 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적들은 고유한 행동 패턴</a:t>
            </a:r>
            <a:r>
              <a:rPr lang="en-US" altLang="ko-KR" sz="2000" dirty="0"/>
              <a:t>(</a:t>
            </a:r>
            <a:r>
              <a:rPr lang="ko-KR" altLang="en-US" sz="2000" dirty="0"/>
              <a:t>스킬 셋</a:t>
            </a:r>
            <a:r>
              <a:rPr lang="en-US" altLang="ko-KR" sz="2000" dirty="0"/>
              <a:t>)</a:t>
            </a:r>
            <a:r>
              <a:rPr lang="ko-KR" altLang="en-US" sz="2000" dirty="0"/>
              <a:t>을 가지며</a:t>
            </a:r>
            <a:r>
              <a:rPr lang="en-US" altLang="ko-KR" sz="2000" dirty="0"/>
              <a:t>, </a:t>
            </a:r>
            <a:r>
              <a:rPr lang="ko-KR" altLang="en-US" sz="2000" dirty="0"/>
              <a:t>플레이어처럼 남은 </a:t>
            </a:r>
            <a:r>
              <a:rPr lang="en-US" altLang="ko-KR" sz="2000" dirty="0"/>
              <a:t>AP</a:t>
            </a:r>
            <a:r>
              <a:rPr lang="ko-KR" altLang="en-US" sz="2000" dirty="0"/>
              <a:t>를 주체적으로 운용한다</a:t>
            </a:r>
            <a:r>
              <a:rPr lang="en-US" altLang="ko-KR" sz="2000" dirty="0"/>
              <a:t>. </a:t>
            </a:r>
            <a:r>
              <a:rPr lang="ko-KR" altLang="en-US" sz="2000" dirty="0"/>
              <a:t>타겟이 사거리 내에 올 때까지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소모하여 이동한 뒤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조건을 만족하면 공격 등 패턴을 수행한다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9003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8A2E-35E9-C1A0-5965-DF06E2D5C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AC2A0-484D-F1DE-90DB-EDA6A8FC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4568E4-8197-54E1-CBA2-ED1661230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마법을 사용하면 그리드 위에 화염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지속피해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 err="1">
                <a:latin typeface="+mn-ea"/>
              </a:rPr>
              <a:t>이동감속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번개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감전</a:t>
            </a:r>
            <a:r>
              <a:rPr lang="en-US" altLang="ko-KR" sz="2000" dirty="0">
                <a:latin typeface="+mn-ea"/>
              </a:rPr>
              <a:t>), </a:t>
            </a:r>
            <a:br>
              <a:rPr lang="en-US" altLang="ko-KR" sz="2000" dirty="0">
                <a:latin typeface="+mn-ea"/>
              </a:rPr>
            </a:br>
            <a:r>
              <a:rPr lang="ko-KR" altLang="en-US" sz="2000" dirty="0">
                <a:latin typeface="+mn-ea"/>
              </a:rPr>
              <a:t>얼음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미끄러짐 및 행동 불능</a:t>
            </a:r>
            <a:r>
              <a:rPr lang="en-US" altLang="ko-KR" sz="2000" dirty="0">
                <a:latin typeface="+mn-ea"/>
              </a:rPr>
              <a:t>) </a:t>
            </a:r>
            <a:r>
              <a:rPr lang="ko-KR" altLang="en-US" sz="2000" dirty="0">
                <a:latin typeface="+mn-ea"/>
              </a:rPr>
              <a:t>등의 </a:t>
            </a:r>
            <a:r>
              <a:rPr lang="ko-KR" altLang="en-US" sz="2000" b="1" dirty="0">
                <a:solidFill>
                  <a:srgbClr val="FF0000"/>
                </a:solidFill>
                <a:latin typeface="+mn-ea"/>
              </a:rPr>
              <a:t>속성 흔적</a:t>
            </a:r>
            <a:r>
              <a:rPr lang="ko-KR" altLang="en-US" sz="2000" dirty="0">
                <a:latin typeface="+mn-ea"/>
              </a:rPr>
              <a:t>이 남는다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속성 간 상호작용이 일어난다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물 타일에 번개 마법이 맞으면 연결된 물 타일 전체에 '연쇄 감전’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ko-KR" sz="2000" dirty="0">
                <a:latin typeface="+mn-ea"/>
              </a:rPr>
              <a:t>이 일어나고, 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화염과 물이 만나면 시야를 방해하는 '증발(안개)' 지형이 1턴 간 생성</a:t>
            </a:r>
            <a:r>
              <a:rPr lang="ko-KR" altLang="en-US" sz="2000" dirty="0">
                <a:latin typeface="+mn-ea"/>
              </a:rPr>
              <a:t>된다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밀치기 효과를 통해 적을 벽이나 생성된 장애물에 부딪히게 하면 </a:t>
            </a:r>
            <a:br>
              <a:rPr lang="en-US" altLang="ko-KR" sz="2000" dirty="0">
                <a:latin typeface="+mn-ea"/>
              </a:rPr>
            </a:br>
            <a:r>
              <a:rPr lang="en-US" altLang="ko-KR" sz="2000" dirty="0">
                <a:latin typeface="+mn-ea"/>
              </a:rPr>
              <a:t>‘</a:t>
            </a:r>
            <a:r>
              <a:rPr lang="ko-KR" altLang="en-US" sz="2000" dirty="0">
                <a:latin typeface="+mn-ea"/>
              </a:rPr>
              <a:t>기절</a:t>
            </a:r>
            <a:r>
              <a:rPr lang="en-US" altLang="ko-KR" sz="2000" dirty="0">
                <a:latin typeface="+mn-ea"/>
              </a:rPr>
              <a:t>’ </a:t>
            </a:r>
            <a:r>
              <a:rPr lang="ko-KR" altLang="en-US" sz="2000" dirty="0">
                <a:latin typeface="+mn-ea"/>
              </a:rPr>
              <a:t>상태이상에 빠진다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9094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6349B-6A08-20C9-1800-290B7721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7BAED9-C94A-BE15-D4B2-C863F6BE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5EC240-9F6B-F4AE-7F48-B011A32C3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26601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속성 별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화상 유발</a:t>
            </a:r>
            <a:r>
              <a:rPr lang="en-US" altLang="ko-KR" sz="1600" dirty="0">
                <a:latin typeface="+mn-ea"/>
              </a:rPr>
              <a:t>,</a:t>
            </a:r>
            <a:r>
              <a:rPr lang="ko-KR" altLang="en-US" sz="1600" dirty="0">
                <a:latin typeface="+mn-ea"/>
              </a:rPr>
              <a:t> 자해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등</a:t>
            </a:r>
            <a:r>
              <a:rPr lang="en-US" altLang="ko-KR" sz="1600" dirty="0">
                <a:latin typeface="+mn-ea"/>
              </a:rPr>
              <a:t>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침묵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회복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상태이상 제거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기절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방어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장애물 생성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이동 등 유틸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버프</a:t>
            </a:r>
            <a:r>
              <a:rPr lang="en-US" altLang="ko-KR" sz="1600" dirty="0">
                <a:latin typeface="+mn-ea"/>
              </a:rPr>
              <a:t>, AP </a:t>
            </a:r>
            <a:r>
              <a:rPr lang="ko-KR" altLang="en-US" sz="1600" dirty="0">
                <a:latin typeface="+mn-ea"/>
              </a:rPr>
              <a:t>회복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빙결 유발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빙결된 적 공격 시 딜 증폭 및 빙결 해제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감전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광역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연쇄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 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 	AP </a:t>
            </a:r>
            <a:r>
              <a:rPr lang="ko-KR" altLang="en-US" sz="1600" dirty="0">
                <a:latin typeface="+mn-ea"/>
              </a:rPr>
              <a:t>대신 체력 소모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유틸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디버프 제거 등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체력 흡수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.	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페널티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: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혼란 중첩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,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골드 소모량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1+N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중첩 당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0.25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81DA9C1-5A64-B288-91E1-13E89BA88DD6}"/>
              </a:ext>
            </a:extLst>
          </p:cNvPr>
          <p:cNvSpPr txBox="1">
            <a:spLocks/>
          </p:cNvSpPr>
          <p:nvPr/>
        </p:nvSpPr>
        <p:spPr>
          <a:xfrm>
            <a:off x="2675466" y="1825624"/>
            <a:ext cx="8678334" cy="1075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시작 덱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불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물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땅</a:t>
            </a:r>
            <a:endParaRPr lang="en-US" altLang="ko-KR" sz="1800" b="1" dirty="0">
              <a:latin typeface="+mn-ea"/>
            </a:endParaRPr>
          </a:p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 dirty="0">
                <a:latin typeface="+mn-ea"/>
              </a:rPr>
              <a:t>이외의 속성 카드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모험 중 취득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거점 업그레이드 등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0579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F702-AA6B-EC5D-0900-B8786A01F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AEA74-646A-CC22-5DBA-7C9106EE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D71F2-1AC3-187A-DC68-238D4E65C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일반적 지형 속성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화염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화상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물웅덩이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이동 반경 감소 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암석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장애물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이동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원거리공격 방해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기류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특정 방향을 가짐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해당 방향으로 이동을 시작 할 때 </a:t>
            </a:r>
            <a:r>
              <a:rPr lang="en-US" altLang="ko-KR" sz="1600" dirty="0">
                <a:latin typeface="+mn-ea"/>
              </a:rPr>
              <a:t>AP </a:t>
            </a:r>
            <a:r>
              <a:rPr lang="ko-KR" altLang="en-US" sz="1600" dirty="0">
                <a:latin typeface="+mn-ea"/>
              </a:rPr>
              <a:t>소모가 </a:t>
            </a:r>
            <a:r>
              <a:rPr lang="en-US" altLang="ko-KR" sz="1600" dirty="0">
                <a:latin typeface="+mn-ea"/>
              </a:rPr>
              <a:t>0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빙판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미끄러짐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전류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감전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성역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대상의 디버프 </a:t>
            </a:r>
            <a:r>
              <a:rPr lang="en-US" altLang="ko-KR" sz="1600" dirty="0">
                <a:latin typeface="+mn-ea"/>
              </a:rPr>
              <a:t>1</a:t>
            </a:r>
            <a:r>
              <a:rPr lang="ko-KR" altLang="en-US" sz="1600" dirty="0">
                <a:latin typeface="+mn-ea"/>
              </a:rPr>
              <a:t>개 정화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심연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대상에게 혼란 스택 부여</a:t>
            </a:r>
            <a:r>
              <a:rPr lang="en-US" altLang="ko-KR" sz="1600" dirty="0">
                <a:latin typeface="+mn-ea"/>
              </a:rPr>
              <a:t> + </a:t>
            </a:r>
            <a:r>
              <a:rPr lang="ko-KR" altLang="en-US" sz="1600" dirty="0">
                <a:latin typeface="+mn-ea"/>
              </a:rPr>
              <a:t>타일 위에서는 치유불가</a:t>
            </a:r>
            <a:endParaRPr lang="en-US" altLang="ko-KR" sz="1600" dirty="0">
              <a:latin typeface="+mn-ea"/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9F267D-8CF4-F8D5-8068-1DE4B8CA7D6C}"/>
              </a:ext>
            </a:extLst>
          </p:cNvPr>
          <p:cNvSpPr txBox="1">
            <a:spLocks/>
          </p:cNvSpPr>
          <p:nvPr/>
        </p:nvSpPr>
        <p:spPr>
          <a:xfrm>
            <a:off x="3917244" y="1825625"/>
            <a:ext cx="7436556" cy="5563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모든 속성 카드가 아닌</a:t>
            </a:r>
            <a:r>
              <a:rPr lang="en-US" altLang="ko-KR" sz="1800" b="1" dirty="0">
                <a:latin typeface="+mn-ea"/>
              </a:rPr>
              <a:t> </a:t>
            </a:r>
            <a:r>
              <a:rPr lang="ko-KR" altLang="en-US" sz="1800" b="1" dirty="0">
                <a:latin typeface="+mn-ea"/>
              </a:rPr>
              <a:t>특정한 카드들 만이 지형 변화를 유발 시킨다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33431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1B589-DD34-DFFC-7FB4-6BC0E5E9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5A634-FEC1-BEC1-6A0D-A8C997987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 </a:t>
            </a:r>
            <a:r>
              <a:rPr lang="ko-KR" altLang="en-US" dirty="0"/>
              <a:t>마법</a:t>
            </a:r>
            <a:r>
              <a:rPr lang="en-US" altLang="ko-KR" dirty="0"/>
              <a:t>/</a:t>
            </a:r>
            <a:r>
              <a:rPr lang="ko-KR" altLang="en-US" dirty="0"/>
              <a:t>덱 컨셉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21CF3-36B4-4EC3-9C65-E660CD83D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시작 덱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불</a:t>
            </a:r>
            <a:r>
              <a:rPr lang="en-US" altLang="ko-KR" sz="2000" dirty="0">
                <a:latin typeface="+mn-ea"/>
              </a:rPr>
              <a:t>/</a:t>
            </a:r>
            <a:r>
              <a:rPr lang="ko-KR" altLang="en-US" sz="2000" dirty="0">
                <a:latin typeface="+mn-ea"/>
              </a:rPr>
              <a:t>물</a:t>
            </a:r>
            <a:r>
              <a:rPr lang="en-US" altLang="ko-KR" sz="2000" dirty="0">
                <a:latin typeface="+mn-ea"/>
              </a:rPr>
              <a:t>/</a:t>
            </a:r>
            <a:r>
              <a:rPr lang="ko-KR" altLang="en-US" sz="2000" dirty="0">
                <a:latin typeface="+mn-ea"/>
              </a:rPr>
              <a:t>땅</a:t>
            </a: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66843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949</Words>
  <Application>Microsoft Office PowerPoint</Application>
  <PresentationFormat>와이드스크린</PresentationFormat>
  <Paragraphs>115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  <vt:lpstr>4.2. UI</vt:lpstr>
      <vt:lpstr>4.3. 키 설정</vt:lpstr>
      <vt:lpstr>5. Game System</vt:lpstr>
      <vt:lpstr>5.1. 행동력 (AP) 규칙</vt:lpstr>
      <vt:lpstr>5.2. 턴 흐름 및 적 AI</vt:lpstr>
      <vt:lpstr>5.3. 속성 및 지형 변화, 연쇄 반응</vt:lpstr>
      <vt:lpstr>5.3. 속성 및 지형 변화, 연쇄 반응</vt:lpstr>
      <vt:lpstr>5.3. 속성 및 지형 변화, 연쇄 반응</vt:lpstr>
      <vt:lpstr>5.4. 마법/덱 컨셉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174</cp:revision>
  <dcterms:created xsi:type="dcterms:W3CDTF">2026-07-11T11:17:54Z</dcterms:created>
  <dcterms:modified xsi:type="dcterms:W3CDTF">2026-07-13T07:17:12Z</dcterms:modified>
</cp:coreProperties>
</file>