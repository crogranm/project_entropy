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6" r:id="rId19"/>
    <p:sldId id="277" r:id="rId20"/>
    <p:sldId id="27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72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C96AEB-F0DF-16F5-9A9B-4F31CA7D8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E36116-9EF4-35B5-9316-311A1597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1E84A0-099D-73AD-2A4F-C375E0342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7A9CA-9E42-9A72-9EF3-8CF8B746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27F00-F9A7-87CA-0044-1A0F32E3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64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5B44F-A993-1174-50DE-DB9063A08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338F57-9F6B-1E10-C523-9A05CDB8B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97E80D-5063-001D-7A21-5BAA320D7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38564C-1156-A3F5-F222-0F49B3826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70073-5B84-9E3E-5ADB-03F4919F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26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C584A-7760-BEE3-6E7D-B2D1A4CFA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ADD833-1CC4-9FE4-0B56-F5DD2930A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5FAAC-49FF-3413-48DD-B4F8B50D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5582E8-A480-3DB8-810D-BBAAED4EB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D44FBC-AB81-AFFB-E352-61DEB3A5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252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ED562-4EA5-D5C2-EE61-F044C0F5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845632-A8F4-4F10-D692-3FAB56C2B4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1158FE-5E22-94F0-0127-59A13D6BD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D6177E-BF06-D452-3F0C-A98BF43B9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400E8A-0B63-92B0-0518-283D704A3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7D90B6-3249-9846-F955-CFA1F5B1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31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6D1227-AE04-BE1C-2B7C-DA9E3FC87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9880E7-4D09-423D-465A-2447A297C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9CDD5D-7EE9-9EC2-80F7-BD3FB9C0A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D4190A-51F9-33BB-0F38-1F36FCC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0C8C58-F9D2-2067-3F1A-470900197B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941233-A304-B3BF-EBB8-A3B218B04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787088C-1731-FF54-4755-BD444059C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890137-604A-14B9-F235-1A2B6556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930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06184-8205-9ADB-4859-19B27BD1F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7C3280F-4D74-30D1-2159-E0A56BC8B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434439-DAAE-9551-7016-E7387B28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D828A3-1465-DBC9-3616-270557739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609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6837AB-79FC-9021-560C-2B5EFD3AF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D1EA959-18C2-9426-5357-42EE1473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A7B606-758E-8B04-D5DB-8590B8EF3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46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34201-BE5E-8F32-D14A-38262DF8B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0FF42-35F3-BAE6-165F-5CE98C910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78ABB2-D6ED-A8BA-8483-E07AD9E0EC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99D2ED-6ECF-C95B-9A59-CE57A90A2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1D537E-643A-F18B-8C0B-3C36DE51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2E62E0-32ED-4756-77C2-3B3899559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22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5C39-FA11-9354-C93F-340EB495B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7430613-8653-7454-7AF2-FE8118B79E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FF89C-049B-FEE5-9F49-557FB4C8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2C1971-A621-86BA-67B8-7AB8ECD8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0C5C99-AD7D-C04D-BCB8-59A67555E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3648D7-B070-4B11-B0D3-34496D97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234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EFA85-F472-AEBD-3314-384B0DE15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287FAC3-B368-2026-341B-41E6A5918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584F8D-DBDF-8CCB-A4FC-5CB62ED58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3E2C47-5D04-F2FD-3C52-55866CC4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DE404-6304-8F0B-0444-FA88521B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511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973A89-E637-BFFE-3968-E7A8230DC5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8BC648-7DE9-689A-3791-35D22B8BEC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911A66-D8D2-7982-82FD-80C589DD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0DE5F0-0169-12B6-AB6C-A81CC240A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F6C13-C87E-F18A-F234-F7F6C1BD9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51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FD49B7-7F62-7727-669A-C303B3AE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0FC940-19BF-2B0A-8355-D36704432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EB100F-2D92-42EE-754A-BE473E5403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CF2A0E-2FBA-4159-9323-C233CC2AF0DB}" type="datetimeFigureOut">
              <a:rPr lang="ko-KR" altLang="en-US" smtClean="0"/>
              <a:t>2026-07-14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3F7B5E-EF13-3651-42EF-2D9D600BD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DE36A4-36CC-C92F-9E6D-0C2EA4B8B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D0DF58-A56D-43F9-AA51-42CF3D3F87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23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1A8E9-6466-71EB-7CEF-6BCF16A14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Entropy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414F2B-1559-FEF6-96E5-2E717326CF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혼돈의 세계</a:t>
            </a:r>
          </a:p>
        </p:txBody>
      </p:sp>
    </p:spTree>
    <p:extLst>
      <p:ext uri="{BB962C8B-B14F-4D97-AF65-F5344CB8AC3E}">
        <p14:creationId xmlns:p14="http://schemas.microsoft.com/office/powerpoint/2010/main" val="358370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918239-E813-3EA0-0F3E-2EC49FF1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08425-EC0E-E4E3-237D-738B0F55B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6333" cy="50323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게임 개요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유사 게임 분석</a:t>
            </a:r>
            <a:endParaRPr lang="en-US" altLang="ko-KR" sz="20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세계관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전체</a:t>
            </a:r>
            <a:r>
              <a:rPr lang="en-US" altLang="ko-KR" sz="1600" dirty="0"/>
              <a:t> </a:t>
            </a:r>
            <a:r>
              <a:rPr lang="ko-KR" altLang="en-US" sz="1600" dirty="0"/>
              <a:t>세계관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스토리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캐릭터</a:t>
            </a:r>
            <a:endParaRPr lang="en-US" altLang="ko-KR" sz="1600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000" dirty="0"/>
              <a:t>구조 및 형태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Flow Chart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en-US" altLang="ko-KR" sz="1600" dirty="0"/>
              <a:t>UI</a:t>
            </a:r>
          </a:p>
          <a:p>
            <a:pPr marL="914400" lvl="1" indent="-457200">
              <a:lnSpc>
                <a:spcPct val="150000"/>
              </a:lnSpc>
              <a:buAutoNum type="arabicPeriod"/>
            </a:pPr>
            <a:r>
              <a:rPr lang="ko-KR" altLang="en-US" sz="1600" dirty="0"/>
              <a:t>키 설정</a:t>
            </a:r>
            <a:endParaRPr lang="en-US" altLang="ko-KR" sz="1600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2728993-5CEE-3287-A44A-2D6F08A30CA4}"/>
              </a:ext>
            </a:extLst>
          </p:cNvPr>
          <p:cNvSpPr txBox="1">
            <a:spLocks/>
          </p:cNvSpPr>
          <p:nvPr/>
        </p:nvSpPr>
        <p:spPr>
          <a:xfrm>
            <a:off x="4944533" y="1825624"/>
            <a:ext cx="4106333" cy="5032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5.   Game System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행동력</a:t>
            </a:r>
            <a:r>
              <a:rPr lang="en-US" altLang="ko-KR" sz="1600" dirty="0"/>
              <a:t>(AP) </a:t>
            </a:r>
            <a:r>
              <a:rPr lang="ko-KR" altLang="en-US" sz="1600" dirty="0"/>
              <a:t>규칙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턴 흐름 및 적 </a:t>
            </a:r>
            <a:r>
              <a:rPr lang="en-US" altLang="ko-KR" sz="1600" dirty="0"/>
              <a:t>AI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속성 및 지형변화</a:t>
            </a:r>
            <a:r>
              <a:rPr lang="en-US" altLang="ko-KR" sz="1600" dirty="0"/>
              <a:t>, </a:t>
            </a:r>
            <a:r>
              <a:rPr lang="ko-KR" altLang="en-US" sz="1600" dirty="0"/>
              <a:t>연쇄반응</a:t>
            </a:r>
            <a:endParaRPr lang="en-US" altLang="ko-KR" sz="1600" dirty="0"/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600" dirty="0"/>
              <a:t>마석 장착 시스템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758008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733E4-8118-4A3B-6B8F-49AC3E6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게임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F474D3-4B81-7B98-8B17-B1AE4BDB2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b="1" dirty="0"/>
              <a:t>장르</a:t>
            </a:r>
            <a:r>
              <a:rPr lang="en-US" altLang="ko-KR" sz="2000" b="1" dirty="0"/>
              <a:t>: </a:t>
            </a:r>
            <a:r>
              <a:rPr lang="ko-KR" altLang="en-US" sz="2000" dirty="0"/>
              <a:t>턴제</a:t>
            </a:r>
            <a:r>
              <a:rPr lang="en-US" altLang="ko-KR" sz="2000" dirty="0"/>
              <a:t>, </a:t>
            </a:r>
            <a:r>
              <a:rPr lang="ko-KR" altLang="en-US" sz="2000" dirty="0"/>
              <a:t>카드게임</a:t>
            </a:r>
            <a:r>
              <a:rPr lang="en-US" altLang="ko-KR" sz="2000" dirty="0"/>
              <a:t>, </a:t>
            </a:r>
            <a:r>
              <a:rPr lang="ko-KR" altLang="en-US" sz="2000" dirty="0"/>
              <a:t>체스</a:t>
            </a:r>
            <a:r>
              <a:rPr lang="en-US" altLang="ko-KR" sz="2000" dirty="0"/>
              <a:t>, </a:t>
            </a:r>
            <a:r>
              <a:rPr lang="ko-KR" altLang="en-US" sz="2000" dirty="0"/>
              <a:t>그리드</a:t>
            </a:r>
            <a:r>
              <a:rPr lang="en-US" altLang="ko-KR" sz="2000" dirty="0"/>
              <a:t>(</a:t>
            </a:r>
            <a:r>
              <a:rPr lang="ko-KR" altLang="en-US" sz="2000" dirty="0"/>
              <a:t>배열</a:t>
            </a:r>
            <a:r>
              <a:rPr lang="en-US" altLang="ko-KR" sz="2000" dirty="0"/>
              <a:t>), </a:t>
            </a:r>
            <a:r>
              <a:rPr lang="ko-KR" altLang="en-US" sz="2000" dirty="0"/>
              <a:t>덱빌딩 로그라이크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핵심 플레이 타임</a:t>
            </a:r>
            <a:r>
              <a:rPr lang="en-US" altLang="ko-KR" sz="2000" b="1" dirty="0"/>
              <a:t>: </a:t>
            </a:r>
            <a:r>
              <a:rPr lang="ko-KR" altLang="en-US" sz="2000" dirty="0"/>
              <a:t>한 판당 </a:t>
            </a:r>
            <a:r>
              <a:rPr lang="en-US" altLang="ko-KR" sz="2000" dirty="0">
                <a:solidFill>
                  <a:srgbClr val="FF0000"/>
                </a:solidFill>
              </a:rPr>
              <a:t>1</a:t>
            </a:r>
            <a:r>
              <a:rPr lang="ko-KR" altLang="en-US" sz="2000" dirty="0">
                <a:solidFill>
                  <a:srgbClr val="FF0000"/>
                </a:solidFill>
              </a:rPr>
              <a:t>시간 </a:t>
            </a:r>
            <a:r>
              <a:rPr lang="ko-KR" altLang="en-US" sz="2000" dirty="0"/>
              <a:t>내외의 세션으로 구성</a:t>
            </a:r>
          </a:p>
        </p:txBody>
      </p:sp>
    </p:spTree>
    <p:extLst>
      <p:ext uri="{BB962C8B-B14F-4D97-AF65-F5344CB8AC3E}">
        <p14:creationId xmlns:p14="http://schemas.microsoft.com/office/powerpoint/2010/main" val="3650617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CE99A-2C86-E915-4A1D-5556F5D9D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0D69E-C5C7-4D89-00A4-1060D72B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유사 게임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52AC1-7357-E12A-DF91-010F8CA72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b="1" dirty="0"/>
              <a:t>Slay the Spire: </a:t>
            </a:r>
            <a:r>
              <a:rPr lang="ko-KR" altLang="en-US" sz="2000" dirty="0"/>
              <a:t>스테이지 이동 시 노드를 선택하여 진행하는 맵 이동 방식 차용</a:t>
            </a:r>
            <a:endParaRPr lang="en-US" altLang="ko-KR" sz="2000" dirty="0"/>
          </a:p>
          <a:p>
            <a:pPr marL="0" indent="0">
              <a:lnSpc>
                <a:spcPct val="100000"/>
              </a:lnSpc>
              <a:buNone/>
            </a:pP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en-US" altLang="ko-KR" sz="2000" b="1" dirty="0" err="1"/>
              <a:t>Noita</a:t>
            </a:r>
            <a:r>
              <a:rPr lang="en-US" altLang="ko-KR" sz="2000" b="1" dirty="0"/>
              <a:t>: </a:t>
            </a:r>
            <a:r>
              <a:rPr lang="ko-KR" altLang="en-US" sz="2000" dirty="0"/>
              <a:t>상점에서 신이 무작위 아이템을 </a:t>
            </a:r>
            <a:r>
              <a:rPr lang="ko-KR" altLang="en-US" sz="2000" dirty="0" err="1"/>
              <a:t>스폰해주고</a:t>
            </a:r>
            <a:r>
              <a:rPr lang="ko-KR" altLang="en-US" sz="2000" dirty="0"/>
              <a:t> 제물을 바치는 컨셉 차용</a:t>
            </a:r>
          </a:p>
        </p:txBody>
      </p:sp>
    </p:spTree>
    <p:extLst>
      <p:ext uri="{BB962C8B-B14F-4D97-AF65-F5344CB8AC3E}">
        <p14:creationId xmlns:p14="http://schemas.microsoft.com/office/powerpoint/2010/main" val="2220040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D8F25-67A5-54FF-E404-71DC8F3E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75853-4928-28E1-19F9-2F91413F9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b="1" dirty="0"/>
              <a:t>3. </a:t>
            </a:r>
            <a:r>
              <a:rPr lang="ko-KR" altLang="en-US" b="1" dirty="0"/>
              <a:t>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39EF24-B485-2D55-5FDF-A657A55B1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 anchorCtr="0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altLang="ko-KR" sz="2000" dirty="0"/>
              <a:t>3.1. </a:t>
            </a:r>
            <a:r>
              <a:rPr lang="ko-KR" altLang="en-US" sz="2000" dirty="0"/>
              <a:t>전체 세계관</a:t>
            </a:r>
            <a:endParaRPr lang="en-US" altLang="ko-KR" sz="2000" dirty="0"/>
          </a:p>
          <a:p>
            <a:pPr algn="ctr">
              <a:lnSpc>
                <a:spcPct val="100000"/>
              </a:lnSpc>
            </a:pPr>
            <a:r>
              <a:rPr lang="en-US" altLang="ko-KR" sz="2000" dirty="0"/>
              <a:t>3.2. </a:t>
            </a:r>
            <a:r>
              <a:rPr lang="ko-KR" altLang="en-US" sz="2000" dirty="0"/>
              <a:t>스토리</a:t>
            </a:r>
            <a:endParaRPr lang="en-US" altLang="ko-KR" sz="2000" dirty="0"/>
          </a:p>
          <a:p>
            <a:pPr algn="ctr">
              <a:lnSpc>
                <a:spcPct val="100000"/>
              </a:lnSpc>
            </a:pPr>
            <a:r>
              <a:rPr lang="en-US" altLang="ko-KR" sz="2000" dirty="0"/>
              <a:t>3.3. </a:t>
            </a:r>
            <a:r>
              <a:rPr lang="ko-KR" altLang="en-US" sz="2000" dirty="0"/>
              <a:t>캐릭터</a:t>
            </a:r>
          </a:p>
        </p:txBody>
      </p:sp>
    </p:spTree>
    <p:extLst>
      <p:ext uri="{BB962C8B-B14F-4D97-AF65-F5344CB8AC3E}">
        <p14:creationId xmlns:p14="http://schemas.microsoft.com/office/powerpoint/2010/main" val="345171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39394-5AE7-110C-8D38-2571F8FB1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FC43E7-43D9-1D84-9E36-E72563399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3.1. </a:t>
            </a:r>
            <a:r>
              <a:rPr lang="ko-KR" altLang="en-US" dirty="0"/>
              <a:t>전체 세계관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5ABD84-BE81-8E32-C083-0EADB4119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악마들이 깨운 </a:t>
            </a:r>
            <a:r>
              <a:rPr lang="ko-KR" altLang="en-US" sz="2000" dirty="0">
                <a:solidFill>
                  <a:srgbClr val="FF0000"/>
                </a:solidFill>
              </a:rPr>
              <a:t>재앙</a:t>
            </a:r>
            <a:r>
              <a:rPr lang="ko-KR" altLang="en-US" sz="2000" dirty="0"/>
              <a:t>에 휘말려 원소는 불안정해지고 마력이 흐트러지는 등 </a:t>
            </a:r>
            <a:br>
              <a:rPr lang="en-US" altLang="ko-KR" sz="2000" dirty="0"/>
            </a:br>
            <a:r>
              <a:rPr lang="ko-KR" altLang="en-US" sz="2000" dirty="0"/>
              <a:t>영문 모를 현상들이 일어나는 멸망 직전의 세계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세계를 멸망시키려던 악마들조차 이 재앙에 휘말려 지성을 잃고 몬스터화 되었고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왕궁 지하에는 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‘</a:t>
            </a:r>
            <a:r>
              <a:rPr lang="ko-KR" altLang="en-US" sz="2000" dirty="0">
                <a:solidFill>
                  <a:schemeClr val="accent5">
                    <a:lumMod val="75000"/>
                  </a:schemeClr>
                </a:solidFill>
              </a:rPr>
              <a:t>엔트로피</a:t>
            </a:r>
            <a:r>
              <a:rPr lang="en-US" altLang="ko-KR" sz="2000" dirty="0">
                <a:solidFill>
                  <a:schemeClr val="accent5">
                    <a:lumMod val="75000"/>
                  </a:schemeClr>
                </a:solidFill>
              </a:rPr>
              <a:t>’</a:t>
            </a:r>
            <a:r>
              <a:rPr lang="ko-KR" altLang="en-US" sz="2000" dirty="0"/>
              <a:t>라 불리는 지성 없는 혼돈이 자리 잡고 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68270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57D3-77E4-DB99-E0F6-76E7AE63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F67C8-F280-D029-C4A0-A46AE5375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 </a:t>
            </a:r>
            <a:r>
              <a:rPr lang="ko-KR" altLang="en-US" dirty="0"/>
              <a:t>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31CC7B-D791-96EB-58AC-F61FDD41D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수천 년 전 악마의 저주로 </a:t>
            </a:r>
            <a:r>
              <a:rPr lang="ko-KR" altLang="en-US" sz="2000" dirty="0">
                <a:solidFill>
                  <a:srgbClr val="7030A0"/>
                </a:solidFill>
              </a:rPr>
              <a:t>리치</a:t>
            </a:r>
            <a:r>
              <a:rPr lang="ko-KR" altLang="en-US" sz="2000" dirty="0"/>
              <a:t>가 되어 스스로를 왕궁 지하에 봉인했던 </a:t>
            </a:r>
            <a:br>
              <a:rPr lang="en-US" altLang="ko-KR" sz="2000" dirty="0"/>
            </a:b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현자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연금술사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ko-KR" altLang="en-US" sz="2000" dirty="0"/>
              <a:t>가 부스러기 마력만 남은 채로 눈을 뜨게 된다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죽으려면 라이프베슬이 필요했지만 어디 있는지는 몰랐다는 설정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재앙으로 왕궁 지하 봉인지가 무너져 한번 죽고</a:t>
            </a:r>
            <a:r>
              <a:rPr lang="en-US" altLang="ko-KR" sz="1400" dirty="0"/>
              <a:t>, </a:t>
            </a:r>
            <a:r>
              <a:rPr lang="ko-KR" altLang="en-US" sz="1400" dirty="0"/>
              <a:t>라이프베슬 앞에서 부활하게 된 것 </a:t>
            </a:r>
            <a:r>
              <a:rPr lang="en-US" altLang="ko-KR" sz="1400" dirty="0"/>
              <a:t>(</a:t>
            </a:r>
            <a:r>
              <a:rPr lang="ko-KR" altLang="en-US" sz="1400" dirty="0"/>
              <a:t>원래는 왕궁에서 부활했었다</a:t>
            </a:r>
            <a:r>
              <a:rPr lang="en-US" altLang="ko-KR" sz="1400" dirty="0"/>
              <a:t>.)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뒤틀리며 멸망하는 세계의 광경</a:t>
            </a:r>
            <a:r>
              <a:rPr lang="en-US" altLang="ko-KR" sz="2000" dirty="0"/>
              <a:t>(</a:t>
            </a:r>
            <a:r>
              <a:rPr lang="ko-KR" altLang="en-US" sz="2000" dirty="0"/>
              <a:t>꿈</a:t>
            </a:r>
            <a:r>
              <a:rPr lang="en-US" altLang="ko-KR" sz="2000" dirty="0"/>
              <a:t>)</a:t>
            </a:r>
            <a:r>
              <a:rPr lang="ko-KR" altLang="en-US" sz="2000" dirty="0"/>
              <a:t>에 눈을 뜬 주인공은 흩어진 마석과 마법을 모아 </a:t>
            </a:r>
            <a:br>
              <a:rPr lang="en-US" altLang="ko-KR" sz="2000" dirty="0"/>
            </a:br>
            <a:r>
              <a:rPr lang="ko-KR" altLang="en-US" sz="2000" dirty="0"/>
              <a:t>재앙을 해체해야 한다</a:t>
            </a:r>
            <a:r>
              <a:rPr lang="en-US" altLang="ko-KR" sz="2000" dirty="0"/>
              <a:t>.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엔딩</a:t>
            </a:r>
            <a:r>
              <a:rPr lang="en-US" altLang="ko-KR" sz="2000" dirty="0"/>
              <a:t>: </a:t>
            </a:r>
            <a:r>
              <a:rPr lang="ko-KR" altLang="en-US" sz="2000" dirty="0"/>
              <a:t>마력 없는 세계 </a:t>
            </a:r>
            <a:r>
              <a:rPr lang="en-US" altLang="ko-KR" sz="2000" dirty="0"/>
              <a:t>(</a:t>
            </a:r>
            <a:r>
              <a:rPr lang="ko-KR" altLang="en-US" sz="2000" dirty="0"/>
              <a:t>먼 미래에는 현대의 지구처럼 변함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28325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1AFCC-321D-6963-4EFF-6DE953DB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25485-143B-F494-7A40-921CA9A9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3.3. </a:t>
            </a:r>
            <a:r>
              <a:rPr lang="ko-KR" altLang="en-US" dirty="0"/>
              <a:t>캐릭터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CD976-4A62-8453-AA7D-802A4A66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주인공</a:t>
            </a:r>
            <a:r>
              <a:rPr lang="en-US" altLang="ko-KR" sz="2000" dirty="0"/>
              <a:t>: </a:t>
            </a:r>
            <a:r>
              <a:rPr lang="ko-KR" altLang="en-US" sz="2000" dirty="0"/>
              <a:t>한때 현자라 불렸던 대연금술사</a:t>
            </a:r>
            <a:r>
              <a:rPr lang="en-US" altLang="ko-KR" sz="2000" dirty="0"/>
              <a:t>, </a:t>
            </a:r>
            <a:r>
              <a:rPr lang="ko-KR" altLang="en-US" sz="2000" dirty="0"/>
              <a:t>현재는 악마의 저주로 리치가 되었음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적대 개체</a:t>
            </a:r>
            <a:r>
              <a:rPr lang="en-US" altLang="ko-KR" sz="2000" dirty="0"/>
              <a:t>: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00B050"/>
                </a:solidFill>
              </a:rPr>
              <a:t>슬라임 킹</a:t>
            </a:r>
            <a:r>
              <a:rPr lang="en-US" altLang="ko-KR" sz="1600" dirty="0">
                <a:solidFill>
                  <a:srgbClr val="00B050"/>
                </a:solidFill>
              </a:rPr>
              <a:t>, </a:t>
            </a:r>
            <a:r>
              <a:rPr lang="ko-KR" altLang="en-US" sz="1600" dirty="0">
                <a:solidFill>
                  <a:srgbClr val="00B050"/>
                </a:solidFill>
              </a:rPr>
              <a:t>고블린 샤먼 등의 토착 몬스터 무리</a:t>
            </a:r>
            <a:endParaRPr lang="en-US" altLang="ko-KR" sz="1600" dirty="0">
              <a:solidFill>
                <a:srgbClr val="00B05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혼돈에 뒤틀린 기사와 귀족</a:t>
            </a:r>
            <a:r>
              <a:rPr lang="en-US" altLang="ko-KR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왕도 시민들</a:t>
            </a:r>
            <a:endParaRPr lang="en-US" altLang="ko-KR" sz="16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FF0000"/>
                </a:solidFill>
              </a:rPr>
              <a:t>지성 잃은 악마들</a:t>
            </a:r>
            <a:endParaRPr lang="en-US" altLang="ko-KR" sz="1600" dirty="0">
              <a:solidFill>
                <a:srgbClr val="FF0000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solidFill>
                  <a:srgbClr val="7030A0"/>
                </a:solidFill>
              </a:rPr>
              <a:t>심층부의 재앙의 근원 </a:t>
            </a:r>
            <a:r>
              <a:rPr lang="en-US" altLang="ko-KR" sz="1600" dirty="0">
                <a:solidFill>
                  <a:srgbClr val="7030A0"/>
                </a:solidFill>
              </a:rPr>
              <a:t>(</a:t>
            </a:r>
            <a:r>
              <a:rPr lang="ko-KR" altLang="en-US" sz="1600" dirty="0">
                <a:solidFill>
                  <a:srgbClr val="7030A0"/>
                </a:solidFill>
              </a:rPr>
              <a:t>엔트로피</a:t>
            </a:r>
            <a:r>
              <a:rPr lang="en-US" altLang="ko-KR" sz="1600" dirty="0">
                <a:solidFill>
                  <a:srgbClr val="7030A0"/>
                </a:solidFill>
              </a:rPr>
              <a:t>)</a:t>
            </a:r>
          </a:p>
          <a:p>
            <a:pPr lvl="1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36384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A4688-910A-3335-29E5-E5944A09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0D987-90C5-9E62-DB52-F0819C4F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b="1" dirty="0"/>
              <a:t>4. </a:t>
            </a:r>
            <a:r>
              <a:rPr lang="ko-KR" altLang="en-US" b="1" dirty="0"/>
              <a:t>구조 및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ADB100-4B70-7BE9-656E-A26599AB2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 anchorCtr="0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altLang="ko-KR" sz="2000" dirty="0"/>
              <a:t>4.1. Flow Chart</a:t>
            </a:r>
          </a:p>
          <a:p>
            <a:pPr algn="ctr">
              <a:lnSpc>
                <a:spcPct val="100000"/>
              </a:lnSpc>
            </a:pPr>
            <a:r>
              <a:rPr lang="en-US" altLang="ko-KR" sz="2000" dirty="0"/>
              <a:t>4.2. UI</a:t>
            </a:r>
          </a:p>
          <a:p>
            <a:pPr algn="ctr">
              <a:lnSpc>
                <a:spcPct val="100000"/>
              </a:lnSpc>
            </a:pPr>
            <a:r>
              <a:rPr lang="en-US" altLang="ko-KR" sz="2000" dirty="0"/>
              <a:t>4.3. </a:t>
            </a:r>
            <a:r>
              <a:rPr lang="ko-KR" altLang="en-US" sz="2000" dirty="0"/>
              <a:t>키 설정</a:t>
            </a:r>
          </a:p>
        </p:txBody>
      </p:sp>
    </p:spTree>
    <p:extLst>
      <p:ext uri="{BB962C8B-B14F-4D97-AF65-F5344CB8AC3E}">
        <p14:creationId xmlns:p14="http://schemas.microsoft.com/office/powerpoint/2010/main" val="2588717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1DA2F-DDF1-DD37-D1F6-16585036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9EA54C-C486-19BF-D447-A8896F36B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 Flow Chart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EDD2DE-C1A2-A75B-D7E7-FB44BD294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진행 흐름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거점 </a:t>
            </a:r>
            <a:r>
              <a:rPr lang="en-US" altLang="ko-KR" sz="1400" dirty="0"/>
              <a:t>– </a:t>
            </a:r>
            <a:r>
              <a:rPr lang="ko-KR" altLang="en-US" sz="1400" dirty="0"/>
              <a:t>로그라이크 식 업그레이드 </a:t>
            </a:r>
            <a:r>
              <a:rPr lang="en-US" altLang="ko-KR" sz="1400" dirty="0"/>
              <a:t>(</a:t>
            </a:r>
            <a:r>
              <a:rPr lang="ko-KR" altLang="en-US" sz="1400" dirty="0"/>
              <a:t>라이프베슬</a:t>
            </a:r>
            <a:r>
              <a:rPr lang="en-US" altLang="ko-KR" sz="1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스테이지 노드 이동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이벤트</a:t>
            </a:r>
            <a:r>
              <a:rPr lang="en-US" altLang="ko-KR" sz="1400" dirty="0"/>
              <a:t>/</a:t>
            </a:r>
            <a:r>
              <a:rPr lang="ko-KR" altLang="en-US" sz="1400" dirty="0"/>
              <a:t>상점</a:t>
            </a:r>
            <a:r>
              <a:rPr lang="en-US" altLang="ko-KR" sz="1400" dirty="0"/>
              <a:t>/</a:t>
            </a:r>
            <a:r>
              <a:rPr lang="ko-KR" altLang="en-US" sz="1400" dirty="0"/>
              <a:t>전투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 err="1"/>
              <a:t>보스전</a:t>
            </a:r>
            <a:endParaRPr lang="en-US" altLang="ko-KR" sz="14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스테이지 구성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초원</a:t>
            </a:r>
            <a:r>
              <a:rPr lang="en-US" altLang="ko-KR" sz="1400" dirty="0"/>
              <a:t> / </a:t>
            </a:r>
            <a:r>
              <a:rPr lang="ko-KR" altLang="en-US" sz="1400" dirty="0"/>
              <a:t>외곽</a:t>
            </a:r>
            <a:r>
              <a:rPr lang="en-US" altLang="ko-KR" sz="1400" dirty="0"/>
              <a:t> / </a:t>
            </a:r>
            <a:r>
              <a:rPr lang="ko-KR" altLang="en-US" sz="1400" dirty="0"/>
              <a:t>성도</a:t>
            </a:r>
            <a:r>
              <a:rPr lang="en-US" altLang="ko-KR" sz="1400" dirty="0"/>
              <a:t> / </a:t>
            </a:r>
            <a:r>
              <a:rPr lang="ko-KR" altLang="en-US" sz="1400" dirty="0"/>
              <a:t>왕궁</a:t>
            </a:r>
            <a:r>
              <a:rPr lang="en-US" altLang="ko-KR" sz="1400" dirty="0"/>
              <a:t> / </a:t>
            </a:r>
            <a:r>
              <a:rPr lang="ko-KR" altLang="en-US" sz="1400" dirty="0"/>
              <a:t>지하</a:t>
            </a:r>
            <a:endParaRPr lang="en-US" altLang="ko-KR" sz="1400" dirty="0"/>
          </a:p>
          <a:p>
            <a:pPr lvl="1">
              <a:lnSpc>
                <a:spcPct val="150000"/>
              </a:lnSpc>
            </a:pPr>
            <a:r>
              <a:rPr lang="ko-KR" altLang="en-US" sz="1400" dirty="0"/>
              <a:t>지하는 일반 막보다도 적은 노드와 최종 보스로 구성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193409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BD48F-7878-3CC2-F304-CEC6A4835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7F80A-2F28-65E2-BC02-9B6CEEA2F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4.2. UI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C00A0C-45B2-032B-D2D9-3F7E3F691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거점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상점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61328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0D32E-EE75-FDE7-2D46-48EF3C61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6C6A5-8613-CDF6-B5A3-B507D133F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4.3. </a:t>
            </a:r>
            <a:r>
              <a:rPr lang="ko-KR" altLang="en-US" dirty="0"/>
              <a:t>키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DB6F4C-A582-4AA6-57F6-9306CF870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기지 및 상점 </a:t>
            </a:r>
            <a:r>
              <a:rPr lang="en-US" altLang="ko-KR" sz="2000" dirty="0"/>
              <a:t>– WASD</a:t>
            </a:r>
            <a:r>
              <a:rPr lang="ko-KR" altLang="en-US" sz="2000" dirty="0"/>
              <a:t>를 이용한 캐릭터 직접 조작 및 상호작용 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전투 </a:t>
            </a:r>
            <a:r>
              <a:rPr lang="en-US" altLang="ko-KR" sz="2000" dirty="0"/>
              <a:t>– </a:t>
            </a:r>
            <a:r>
              <a:rPr lang="ko-KR" altLang="en-US" sz="2000" dirty="0"/>
              <a:t>마우스</a:t>
            </a:r>
            <a:r>
              <a:rPr lang="en-US" altLang="ko-KR" sz="2000" dirty="0"/>
              <a:t>:</a:t>
            </a:r>
            <a:r>
              <a:rPr lang="ko-KR" altLang="en-US" sz="2000" dirty="0"/>
              <a:t> 카드 사용 및 타일 이동 지시</a:t>
            </a:r>
            <a:r>
              <a:rPr lang="en-US" altLang="ko-KR" sz="2000" dirty="0"/>
              <a:t>, UI</a:t>
            </a:r>
            <a:r>
              <a:rPr lang="ko-KR" altLang="en-US" sz="2000" dirty="0"/>
              <a:t>버튼 클릭 등</a:t>
            </a:r>
            <a:r>
              <a:rPr lang="en-US" altLang="ko-KR" sz="2000" dirty="0"/>
              <a:t> </a:t>
            </a:r>
            <a:r>
              <a:rPr lang="ko-KR" altLang="en-US" sz="2000" dirty="0"/>
              <a:t>사용</a:t>
            </a:r>
            <a:br>
              <a:rPr lang="en-US" altLang="ko-KR" sz="2000" dirty="0"/>
            </a:br>
            <a:r>
              <a:rPr lang="en-US" altLang="ko-KR" sz="2000" dirty="0"/>
              <a:t>	  </a:t>
            </a:r>
            <a:r>
              <a:rPr lang="ko-KR" altLang="en-US" sz="2000" dirty="0"/>
              <a:t>키보드</a:t>
            </a:r>
            <a:r>
              <a:rPr lang="en-US" altLang="ko-KR" sz="2000" dirty="0"/>
              <a:t>:</a:t>
            </a:r>
            <a:r>
              <a:rPr lang="ko-KR" altLang="en-US" sz="2000" dirty="0"/>
              <a:t> 카드 및 턴 종료 등 단축키 사용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공통 시스템 </a:t>
            </a:r>
            <a:r>
              <a:rPr lang="en-US" altLang="ko-KR" sz="2000" dirty="0"/>
              <a:t>– </a:t>
            </a:r>
            <a:r>
              <a:rPr lang="ko-KR" altLang="en-US" sz="2000" dirty="0"/>
              <a:t>일시정지</a:t>
            </a:r>
            <a:r>
              <a:rPr lang="en-US" altLang="ko-KR" sz="2000" dirty="0"/>
              <a:t>, </a:t>
            </a:r>
            <a:r>
              <a:rPr lang="ko-KR" altLang="en-US" sz="2000" dirty="0"/>
              <a:t>지도 </a:t>
            </a:r>
            <a:r>
              <a:rPr lang="en-US" altLang="ko-KR" sz="2000" dirty="0"/>
              <a:t>UI </a:t>
            </a:r>
            <a:r>
              <a:rPr lang="ko-KR" altLang="en-US" sz="2000" dirty="0"/>
              <a:t>등 시스템 입력 담당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393712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C262B-9941-37B4-D5FF-BF5045325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524A78-F25B-D0B5-3CD4-65842E6F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b="1" dirty="0"/>
              <a:t>5. Game System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614E0-97FA-74D3-9722-4415C7023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 anchorCtr="0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000" dirty="0"/>
              <a:t>5.1. </a:t>
            </a:r>
            <a:r>
              <a:rPr lang="ko-KR" altLang="en-US" sz="2000" dirty="0"/>
              <a:t>행동력 </a:t>
            </a:r>
            <a:r>
              <a:rPr lang="en-US" altLang="ko-KR" sz="2000" dirty="0"/>
              <a:t>(AP)</a:t>
            </a:r>
            <a:r>
              <a:rPr lang="ko-KR" altLang="en-US" sz="2000" dirty="0"/>
              <a:t> 규칙</a:t>
            </a:r>
            <a:endParaRPr lang="en-US" altLang="ko-KR" sz="2000" dirty="0"/>
          </a:p>
          <a:p>
            <a:pPr algn="ctr">
              <a:lnSpc>
                <a:spcPct val="150000"/>
              </a:lnSpc>
            </a:pPr>
            <a:r>
              <a:rPr lang="en-US" altLang="ko-KR" sz="2000" dirty="0"/>
              <a:t>5.2. </a:t>
            </a:r>
            <a:r>
              <a:rPr lang="ko-KR" altLang="en-US" sz="2000" dirty="0"/>
              <a:t>턴 흐름 및 적 </a:t>
            </a:r>
            <a:r>
              <a:rPr lang="en-US" altLang="ko-KR" sz="2000" dirty="0"/>
              <a:t>AI</a:t>
            </a:r>
          </a:p>
          <a:p>
            <a:pPr algn="ctr">
              <a:lnSpc>
                <a:spcPct val="150000"/>
              </a:lnSpc>
            </a:pPr>
            <a:r>
              <a:rPr lang="en-US" altLang="ko-KR" sz="2000" dirty="0"/>
              <a:t>5.3. </a:t>
            </a:r>
            <a:r>
              <a:rPr lang="ko-KR" altLang="en-US" sz="2000" dirty="0"/>
              <a:t>속성 및 지형 변화</a:t>
            </a:r>
            <a:r>
              <a:rPr lang="en-US" altLang="ko-KR" sz="2000" dirty="0"/>
              <a:t>, </a:t>
            </a:r>
            <a:r>
              <a:rPr lang="ko-KR" altLang="en-US" sz="2000" dirty="0"/>
              <a:t>연쇄 반응</a:t>
            </a:r>
            <a:endParaRPr lang="en-US" altLang="ko-KR" sz="2000" dirty="0"/>
          </a:p>
          <a:p>
            <a:pPr algn="ctr">
              <a:lnSpc>
                <a:spcPct val="150000"/>
              </a:lnSpc>
            </a:pPr>
            <a:r>
              <a:rPr lang="en-US" altLang="ko-KR" sz="2000" dirty="0"/>
              <a:t>5.4. </a:t>
            </a:r>
            <a:r>
              <a:rPr lang="ko-KR" altLang="en-US" sz="2000" dirty="0"/>
              <a:t>마석 장착 시스템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226688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0843A-3304-6892-ACF5-C65B740AD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5A207B-4364-CBC0-A6A3-4A1161AD2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 </a:t>
            </a:r>
            <a:r>
              <a:rPr lang="ko-KR" altLang="en-US" dirty="0"/>
              <a:t>행동력 </a:t>
            </a:r>
            <a:r>
              <a:rPr lang="en-US" altLang="ko-KR" dirty="0"/>
              <a:t>(AP) </a:t>
            </a:r>
            <a:r>
              <a:rPr lang="ko-KR" altLang="en-US" dirty="0"/>
              <a:t>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923786-BE50-22F0-8BE4-74AA14DB8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ko-KR" sz="2000" dirty="0"/>
              <a:t>플레이어와 적은 이동 및 스킬 사용에 소모되는 'AP(행동력)’</a:t>
            </a:r>
            <a:r>
              <a:rPr lang="ko-KR" altLang="ko-KR" sz="2000" dirty="0" err="1"/>
              <a:t>를</a:t>
            </a:r>
            <a:r>
              <a:rPr lang="ko-KR" altLang="ko-KR" sz="2000" dirty="0"/>
              <a:t> 공통 자원으로 </a:t>
            </a:r>
            <a:br>
              <a:rPr lang="en-US" altLang="ko-KR" sz="2000" dirty="0"/>
            </a:br>
            <a:r>
              <a:rPr lang="ko-KR" altLang="ko-KR" sz="2000" dirty="0"/>
              <a:t>사용</a:t>
            </a:r>
            <a:r>
              <a:rPr lang="ko-KR" altLang="en-US" sz="2000" dirty="0"/>
              <a:t>한다</a:t>
            </a:r>
            <a:r>
              <a:rPr lang="ko-KR" altLang="ko-KR" sz="2000" dirty="0"/>
              <a:t>.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dirty="0"/>
              <a:t>최대 이동 사거리</a:t>
            </a:r>
            <a:r>
              <a:rPr lang="en-US" altLang="ko-KR" sz="2000" dirty="0"/>
              <a:t>(</a:t>
            </a:r>
            <a:r>
              <a:rPr lang="ko-KR" altLang="en-US" sz="2000" dirty="0"/>
              <a:t>스탯</a:t>
            </a:r>
            <a:r>
              <a:rPr lang="en-US" altLang="ko-KR" sz="2000" dirty="0"/>
              <a:t>) </a:t>
            </a:r>
            <a:r>
              <a:rPr lang="ko-KR" altLang="en-US" sz="2000" dirty="0"/>
              <a:t>만큼의 이동마다 </a:t>
            </a:r>
            <a:r>
              <a:rPr lang="en-US" altLang="ko-KR" sz="2000" dirty="0"/>
              <a:t>1AP</a:t>
            </a:r>
            <a:r>
              <a:rPr lang="ko-KR" altLang="en-US" sz="2000" dirty="0"/>
              <a:t>가 소모되며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br>
              <a:rPr lang="en-US" altLang="ko-KR" sz="2000" dirty="0"/>
            </a:br>
            <a:r>
              <a:rPr lang="ko-KR" altLang="en-US" sz="2000" dirty="0"/>
              <a:t>마법</a:t>
            </a:r>
            <a:r>
              <a:rPr lang="en-US" altLang="ko-KR" sz="2000" dirty="0"/>
              <a:t>(</a:t>
            </a:r>
            <a:r>
              <a:rPr lang="ko-KR" altLang="en-US" sz="2000" dirty="0"/>
              <a:t>카드</a:t>
            </a:r>
            <a:r>
              <a:rPr lang="en-US" altLang="ko-KR" sz="2000" dirty="0"/>
              <a:t>) </a:t>
            </a:r>
            <a:r>
              <a:rPr lang="ko-KR" altLang="en-US" sz="2000" dirty="0"/>
              <a:t>사용 시에도 카드별 </a:t>
            </a:r>
            <a:r>
              <a:rPr lang="en-US" altLang="ko-KR" sz="2000" dirty="0"/>
              <a:t>AP</a:t>
            </a:r>
            <a:r>
              <a:rPr lang="ko-KR" altLang="en-US" sz="2000" dirty="0"/>
              <a:t>를 소모한다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5079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FF5A0-ECEA-7902-DC88-36B2460BB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EC4620-0D17-F93A-EE80-88F458A35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 </a:t>
            </a:r>
            <a:r>
              <a:rPr lang="ko-KR" altLang="en-US" dirty="0"/>
              <a:t>턴 흐름 및 적 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E3CEC6-5BEA-B111-6FD4-8FAC8B6B4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ko-KR" sz="2000" b="1" dirty="0"/>
              <a:t>플레이어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턴</a:t>
            </a:r>
            <a:r>
              <a:rPr lang="en-US" altLang="ko-KR" sz="2000" b="1" dirty="0"/>
              <a:t>: </a:t>
            </a:r>
            <a:br>
              <a:rPr lang="en-US" altLang="ko-KR" sz="2000" b="1" dirty="0"/>
            </a:br>
            <a:r>
              <a:rPr lang="ko-KR" altLang="en-US" sz="2000" dirty="0"/>
              <a:t>매 턴 기본 드로우를 획득하고</a:t>
            </a:r>
            <a:r>
              <a:rPr lang="en-US" altLang="ko-KR" sz="2000" dirty="0"/>
              <a:t>, AP</a:t>
            </a:r>
            <a:r>
              <a:rPr lang="ko-KR" altLang="en-US" sz="2000" dirty="0"/>
              <a:t>를 소모해 마법을 사용하거나 이동한다</a:t>
            </a:r>
            <a:r>
              <a:rPr lang="en-US" altLang="ko-KR" sz="2000" dirty="0"/>
              <a:t>.</a:t>
            </a:r>
            <a:br>
              <a:rPr lang="en-US" altLang="ko-KR" sz="2000" dirty="0"/>
            </a:br>
            <a:r>
              <a:rPr lang="ko-KR" altLang="en-US" sz="2000" dirty="0"/>
              <a:t>턴 종료 시 들고 있던 카드를 버린다</a:t>
            </a:r>
            <a:r>
              <a:rPr lang="en-US" altLang="ko-KR" sz="20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000" b="1" dirty="0"/>
              <a:t>적 턴</a:t>
            </a:r>
            <a:r>
              <a:rPr lang="en-US" altLang="ko-KR" sz="2000" b="1" dirty="0"/>
              <a:t>: </a:t>
            </a:r>
            <a:br>
              <a:rPr lang="en-US" altLang="ko-KR" sz="2000" b="1" dirty="0"/>
            </a:br>
            <a:r>
              <a:rPr lang="ko-KR" altLang="en-US" sz="2000" dirty="0"/>
              <a:t>적들은 고유한 행동 패턴</a:t>
            </a:r>
            <a:r>
              <a:rPr lang="en-US" altLang="ko-KR" sz="2000" dirty="0"/>
              <a:t>(</a:t>
            </a:r>
            <a:r>
              <a:rPr lang="ko-KR" altLang="en-US" sz="2000" dirty="0"/>
              <a:t>스킬 셋</a:t>
            </a:r>
            <a:r>
              <a:rPr lang="en-US" altLang="ko-KR" sz="2000" dirty="0"/>
              <a:t>)</a:t>
            </a:r>
            <a:r>
              <a:rPr lang="ko-KR" altLang="en-US" sz="2000" dirty="0"/>
              <a:t>을 가지며</a:t>
            </a:r>
            <a:r>
              <a:rPr lang="en-US" altLang="ko-KR" sz="2000" dirty="0"/>
              <a:t>, </a:t>
            </a:r>
            <a:r>
              <a:rPr lang="ko-KR" altLang="en-US" sz="2000" dirty="0"/>
              <a:t>플레이어처럼 남은 </a:t>
            </a:r>
            <a:r>
              <a:rPr lang="en-US" altLang="ko-KR" sz="2000" dirty="0"/>
              <a:t>AP</a:t>
            </a:r>
            <a:r>
              <a:rPr lang="ko-KR" altLang="en-US" sz="2000" dirty="0"/>
              <a:t>를 주체적으로 운용한다</a:t>
            </a:r>
            <a:r>
              <a:rPr lang="en-US" altLang="ko-KR" sz="2000" dirty="0"/>
              <a:t>. </a:t>
            </a:r>
            <a:r>
              <a:rPr lang="ko-KR" altLang="en-US" sz="2000" dirty="0"/>
              <a:t>타겟이 사거리 내에 올 때까지 </a:t>
            </a:r>
            <a:r>
              <a:rPr lang="en-US" altLang="ko-KR" sz="2000" dirty="0"/>
              <a:t>AP</a:t>
            </a:r>
            <a:r>
              <a:rPr lang="ko-KR" altLang="en-US" sz="2000" dirty="0"/>
              <a:t>를 소모하여 이동한 뒤</a:t>
            </a:r>
            <a:r>
              <a:rPr lang="en-US" altLang="ko-KR" sz="2000" dirty="0"/>
              <a:t>, </a:t>
            </a:r>
            <a:r>
              <a:rPr lang="ko-KR" altLang="en-US" sz="2000" dirty="0"/>
              <a:t>조건을 만족하면 공격 등 패턴을 수행한다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9003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88A2E-35E9-C1A0-5965-DF06E2D5C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CAC2A0-484D-F1DE-90DB-EDA6A8FC8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4568E4-8197-54E1-CBA2-ED1661230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마법을 사용하면 그리드 위에 화염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지속피해</a:t>
            </a:r>
            <a:r>
              <a:rPr lang="en-US" altLang="ko-KR" sz="2000" dirty="0">
                <a:latin typeface="+mn-ea"/>
              </a:rPr>
              <a:t>), </a:t>
            </a:r>
            <a:r>
              <a:rPr lang="ko-KR" altLang="en-US" sz="2000" dirty="0">
                <a:latin typeface="+mn-ea"/>
              </a:rPr>
              <a:t>물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 err="1">
                <a:latin typeface="+mn-ea"/>
              </a:rPr>
              <a:t>이동감속</a:t>
            </a:r>
            <a:r>
              <a:rPr lang="en-US" altLang="ko-KR" sz="2000" dirty="0">
                <a:latin typeface="+mn-ea"/>
              </a:rPr>
              <a:t>), </a:t>
            </a:r>
            <a:r>
              <a:rPr lang="ko-KR" altLang="en-US" sz="2000" dirty="0">
                <a:latin typeface="+mn-ea"/>
              </a:rPr>
              <a:t>번개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감전</a:t>
            </a:r>
            <a:r>
              <a:rPr lang="en-US" altLang="ko-KR" sz="2000" dirty="0">
                <a:latin typeface="+mn-ea"/>
              </a:rPr>
              <a:t>), </a:t>
            </a:r>
            <a:br>
              <a:rPr lang="en-US" altLang="ko-KR" sz="2000" dirty="0">
                <a:latin typeface="+mn-ea"/>
              </a:rPr>
            </a:br>
            <a:r>
              <a:rPr lang="ko-KR" altLang="en-US" sz="2000" dirty="0">
                <a:latin typeface="+mn-ea"/>
              </a:rPr>
              <a:t>얼음</a:t>
            </a:r>
            <a:r>
              <a:rPr lang="en-US" altLang="ko-KR" sz="2000" dirty="0">
                <a:latin typeface="+mn-ea"/>
              </a:rPr>
              <a:t>(</a:t>
            </a:r>
            <a:r>
              <a:rPr lang="ko-KR" altLang="en-US" sz="2000" dirty="0">
                <a:latin typeface="+mn-ea"/>
              </a:rPr>
              <a:t>미끄러짐 및 행동 불능</a:t>
            </a:r>
            <a:r>
              <a:rPr lang="en-US" altLang="ko-KR" sz="2000" dirty="0">
                <a:latin typeface="+mn-ea"/>
              </a:rPr>
              <a:t>) </a:t>
            </a:r>
            <a:r>
              <a:rPr lang="ko-KR" altLang="en-US" sz="2000" dirty="0">
                <a:latin typeface="+mn-ea"/>
              </a:rPr>
              <a:t>등의 </a:t>
            </a:r>
            <a:r>
              <a:rPr lang="ko-KR" altLang="en-US" sz="2000" b="1" dirty="0">
                <a:solidFill>
                  <a:srgbClr val="FF0000"/>
                </a:solidFill>
                <a:latin typeface="+mn-ea"/>
              </a:rPr>
              <a:t>속성 흔적</a:t>
            </a:r>
            <a:r>
              <a:rPr lang="ko-KR" altLang="en-US" sz="2000" dirty="0">
                <a:latin typeface="+mn-ea"/>
              </a:rPr>
              <a:t>이 남는다</a:t>
            </a: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속성 간 상호작용이 일어난다</a:t>
            </a:r>
            <a:br>
              <a:rPr lang="en-US" altLang="ko-KR" sz="2000" dirty="0">
                <a:latin typeface="+mn-ea"/>
              </a:rPr>
            </a:br>
            <a:r>
              <a:rPr lang="ko-KR" altLang="ko-KR" sz="2000" dirty="0">
                <a:latin typeface="+mn-ea"/>
              </a:rPr>
              <a:t>물 타일에 번개 마법이 맞으면 연결된 물 타일 전체에 '연쇄 감전’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ko-KR" sz="2000" dirty="0">
                <a:latin typeface="+mn-ea"/>
              </a:rPr>
              <a:t>이 일어나고, </a:t>
            </a:r>
            <a:br>
              <a:rPr lang="en-US" altLang="ko-KR" sz="2000" dirty="0">
                <a:latin typeface="+mn-ea"/>
              </a:rPr>
            </a:br>
            <a:r>
              <a:rPr lang="ko-KR" altLang="ko-KR" sz="2000" dirty="0">
                <a:latin typeface="+mn-ea"/>
              </a:rPr>
              <a:t>화염과 물이 만나면 시야를 방해하는 '증발(안개)' 지형이 1턴 간 생성</a:t>
            </a:r>
            <a:r>
              <a:rPr lang="ko-KR" altLang="en-US" sz="2000" dirty="0">
                <a:latin typeface="+mn-ea"/>
              </a:rPr>
              <a:t>된다</a:t>
            </a: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밀치기 효과를 통해 적을 벽이나 생성된 장애물에 부딪히게 하면 </a:t>
            </a:r>
            <a:br>
              <a:rPr lang="en-US" altLang="ko-KR" sz="2000" dirty="0">
                <a:latin typeface="+mn-ea"/>
              </a:rPr>
            </a:br>
            <a:r>
              <a:rPr lang="en-US" altLang="ko-KR" sz="2000" dirty="0">
                <a:latin typeface="+mn-ea"/>
              </a:rPr>
              <a:t>‘</a:t>
            </a:r>
            <a:r>
              <a:rPr lang="ko-KR" altLang="en-US" sz="2000" dirty="0">
                <a:latin typeface="+mn-ea"/>
              </a:rPr>
              <a:t>기절</a:t>
            </a:r>
            <a:r>
              <a:rPr lang="en-US" altLang="ko-KR" sz="2000" dirty="0">
                <a:latin typeface="+mn-ea"/>
              </a:rPr>
              <a:t>’ </a:t>
            </a:r>
            <a:r>
              <a:rPr lang="ko-KR" altLang="en-US" sz="2000" dirty="0">
                <a:latin typeface="+mn-ea"/>
              </a:rPr>
              <a:t>상태이상에 빠진다</a:t>
            </a:r>
            <a:endParaRPr lang="en-US" altLang="ko-KR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90946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6349B-6A08-20C9-1800-290B7721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7BAED9-C94A-BE15-D4B2-C863F6BE3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5EC240-9F6B-F4AE-7F48-B011A32C3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626601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+mn-ea"/>
              </a:rPr>
              <a:t>&lt;</a:t>
            </a:r>
            <a:r>
              <a:rPr lang="ko-KR" altLang="en-US" sz="2000" b="1" dirty="0">
                <a:latin typeface="+mn-ea"/>
              </a:rPr>
              <a:t>속성 별 특징</a:t>
            </a:r>
            <a:r>
              <a:rPr lang="en-US" altLang="ko-KR" sz="2000" b="1" dirty="0">
                <a:latin typeface="+mn-ea"/>
              </a:rPr>
              <a:t>&gt;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불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화상 유발</a:t>
            </a:r>
            <a:r>
              <a:rPr lang="en-US" altLang="ko-KR" sz="1600" dirty="0">
                <a:latin typeface="+mn-ea"/>
              </a:rPr>
              <a:t>,</a:t>
            </a:r>
            <a:r>
              <a:rPr lang="ko-KR" altLang="en-US" sz="1600" dirty="0">
                <a:latin typeface="+mn-ea"/>
              </a:rPr>
              <a:t> 자해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강력한 딜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등</a:t>
            </a:r>
            <a:r>
              <a:rPr lang="en-US" altLang="ko-KR" sz="1600" dirty="0">
                <a:latin typeface="+mn-ea"/>
              </a:rPr>
              <a:t> 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물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침묵 유발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밀치기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회복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상태이상 제거 등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땅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기절 유발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밀치기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방어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장애물 생성 등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바람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이동 등 유틸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버프</a:t>
            </a:r>
            <a:r>
              <a:rPr lang="en-US" altLang="ko-KR" sz="1600" dirty="0">
                <a:latin typeface="+mn-ea"/>
              </a:rPr>
              <a:t>, AP </a:t>
            </a:r>
            <a:r>
              <a:rPr lang="ko-KR" altLang="en-US" sz="1600" dirty="0">
                <a:latin typeface="+mn-ea"/>
              </a:rPr>
              <a:t>회복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얼음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빙결 유발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빙결된 적 공격 시 딜 증폭 및 빙결 해제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번개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감전 유발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광역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연쇄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 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빛 </a:t>
            </a:r>
            <a:r>
              <a:rPr lang="en-US" altLang="ko-KR" sz="1600" dirty="0">
                <a:latin typeface="+mn-ea"/>
              </a:rPr>
              <a:t>: 	AP </a:t>
            </a:r>
            <a:r>
              <a:rPr lang="ko-KR" altLang="en-US" sz="1600" dirty="0">
                <a:latin typeface="+mn-ea"/>
              </a:rPr>
              <a:t>대신 체력 소모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강력한 유틸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디버프 제거 등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어둠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체력 흡수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강력한 딜</a:t>
            </a:r>
            <a:r>
              <a:rPr lang="en-US" altLang="ko-KR" sz="1600" dirty="0">
                <a:latin typeface="+mn-ea"/>
              </a:rPr>
              <a:t>.	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페널티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: 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혼란 중첩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, 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골드 소모량 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1+N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배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(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중첩 당 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0.25</a:t>
            </a:r>
            <a:r>
              <a:rPr lang="ko-KR" altLang="en-US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배</a:t>
            </a:r>
            <a:r>
              <a:rPr lang="en-US" altLang="ko-KR" sz="1600" dirty="0">
                <a:solidFill>
                  <a:schemeClr val="accent5">
                    <a:lumMod val="75000"/>
                  </a:schemeClr>
                </a:solidFill>
                <a:latin typeface="+mn-ea"/>
              </a:rPr>
              <a:t>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81DA9C1-5A64-B288-91E1-13E89BA88DD6}"/>
              </a:ext>
            </a:extLst>
          </p:cNvPr>
          <p:cNvSpPr txBox="1">
            <a:spLocks/>
          </p:cNvSpPr>
          <p:nvPr/>
        </p:nvSpPr>
        <p:spPr>
          <a:xfrm>
            <a:off x="2675466" y="1825624"/>
            <a:ext cx="8678334" cy="10756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>
                <a:latin typeface="+mn-ea"/>
              </a:rPr>
              <a:t>*</a:t>
            </a:r>
            <a:r>
              <a:rPr lang="ko-KR" altLang="en-US" sz="1800" b="1" dirty="0">
                <a:latin typeface="+mn-ea"/>
              </a:rPr>
              <a:t>시작 덱</a:t>
            </a:r>
            <a:r>
              <a:rPr lang="en-US" altLang="ko-KR" sz="1800" b="1" dirty="0">
                <a:latin typeface="+mn-ea"/>
              </a:rPr>
              <a:t>: </a:t>
            </a:r>
            <a:r>
              <a:rPr lang="ko-KR" altLang="en-US" sz="1800" b="1" dirty="0">
                <a:latin typeface="+mn-ea"/>
              </a:rPr>
              <a:t>불</a:t>
            </a:r>
            <a:r>
              <a:rPr lang="en-US" altLang="ko-KR" sz="1800" b="1" dirty="0">
                <a:latin typeface="+mn-ea"/>
              </a:rPr>
              <a:t>/</a:t>
            </a:r>
            <a:r>
              <a:rPr lang="ko-KR" altLang="en-US" sz="1800" b="1" dirty="0">
                <a:latin typeface="+mn-ea"/>
              </a:rPr>
              <a:t>물</a:t>
            </a:r>
            <a:r>
              <a:rPr lang="en-US" altLang="ko-KR" sz="1800" b="1" dirty="0">
                <a:latin typeface="+mn-ea"/>
              </a:rPr>
              <a:t>/</a:t>
            </a:r>
            <a:r>
              <a:rPr lang="ko-KR" altLang="en-US" sz="1800" b="1" dirty="0">
                <a:latin typeface="+mn-ea"/>
              </a:rPr>
              <a:t>땅</a:t>
            </a:r>
            <a:endParaRPr lang="en-US" altLang="ko-KR" sz="1800" b="1" dirty="0">
              <a:latin typeface="+mn-ea"/>
            </a:endParaRPr>
          </a:p>
          <a:p>
            <a:pPr marL="0" indent="0" algn="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 dirty="0">
                <a:latin typeface="+mn-ea"/>
              </a:rPr>
              <a:t>이외의 속성 카드</a:t>
            </a:r>
            <a:r>
              <a:rPr lang="en-US" altLang="ko-KR" sz="1800" b="1" dirty="0">
                <a:latin typeface="+mn-ea"/>
              </a:rPr>
              <a:t>: </a:t>
            </a:r>
            <a:r>
              <a:rPr lang="ko-KR" altLang="en-US" sz="1800" b="1" dirty="0">
                <a:latin typeface="+mn-ea"/>
              </a:rPr>
              <a:t>모험 중 취득</a:t>
            </a:r>
            <a:r>
              <a:rPr lang="en-US" altLang="ko-KR" sz="1800" b="1" dirty="0">
                <a:latin typeface="+mn-ea"/>
              </a:rPr>
              <a:t>/</a:t>
            </a:r>
            <a:r>
              <a:rPr lang="ko-KR" altLang="en-US" sz="1800" b="1" dirty="0">
                <a:latin typeface="+mn-ea"/>
              </a:rPr>
              <a:t>거점 업그레이드 등</a:t>
            </a:r>
            <a:endParaRPr lang="en-US" altLang="ko-KR" sz="1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30579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7F702-AA6B-EC5D-0900-B8786A01F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AEA74-646A-CC22-5DBA-7C9106EE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4D71F2-1AC3-187A-DC68-238D4E65C7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+mn-ea"/>
              </a:rPr>
              <a:t>&lt;</a:t>
            </a:r>
            <a:r>
              <a:rPr lang="ko-KR" altLang="en-US" sz="2000" b="1" dirty="0">
                <a:latin typeface="+mn-ea"/>
              </a:rPr>
              <a:t>일반적 지형 속성 특징</a:t>
            </a:r>
            <a:r>
              <a:rPr lang="en-US" altLang="ko-KR" sz="2000" b="1" dirty="0">
                <a:latin typeface="+mn-ea"/>
              </a:rPr>
              <a:t>&gt;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불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화염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화상 유발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물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물웅덩이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이동 반경 감소 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땅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암석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장애물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이동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원거리공격 방해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밀치기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바람 </a:t>
            </a:r>
            <a:r>
              <a:rPr lang="en-US" altLang="ko-KR" sz="1600" dirty="0">
                <a:latin typeface="+mn-ea"/>
              </a:rPr>
              <a:t>: 	</a:t>
            </a:r>
            <a:r>
              <a:rPr lang="ko-KR" altLang="en-US" sz="1600" dirty="0">
                <a:latin typeface="+mn-ea"/>
              </a:rPr>
              <a:t>기류 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특정 방향을 가짐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해당 방향으로 이동을 시작 할 때 </a:t>
            </a:r>
            <a:r>
              <a:rPr lang="en-US" altLang="ko-KR" sz="1600" dirty="0">
                <a:latin typeface="+mn-ea"/>
              </a:rPr>
              <a:t>AP </a:t>
            </a:r>
            <a:r>
              <a:rPr lang="ko-KR" altLang="en-US" sz="1600" dirty="0">
                <a:latin typeface="+mn-ea"/>
              </a:rPr>
              <a:t>소모가 </a:t>
            </a:r>
            <a:r>
              <a:rPr lang="en-US" altLang="ko-KR" sz="1600" dirty="0">
                <a:latin typeface="+mn-ea"/>
              </a:rPr>
              <a:t>0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얼음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빙판</a:t>
            </a:r>
            <a:r>
              <a:rPr lang="en-US" altLang="ko-KR" sz="1600" dirty="0">
                <a:latin typeface="+mn-ea"/>
              </a:rPr>
              <a:t>	– </a:t>
            </a:r>
            <a:r>
              <a:rPr lang="ko-KR" altLang="en-US" sz="1600" dirty="0">
                <a:latin typeface="+mn-ea"/>
              </a:rPr>
              <a:t>미끄러짐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번개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전류</a:t>
            </a:r>
            <a:r>
              <a:rPr lang="en-US" altLang="ko-KR" sz="1600" dirty="0">
                <a:latin typeface="+mn-ea"/>
              </a:rPr>
              <a:t> 	– </a:t>
            </a:r>
            <a:r>
              <a:rPr lang="ko-KR" altLang="en-US" sz="1600" dirty="0">
                <a:latin typeface="+mn-ea"/>
              </a:rPr>
              <a:t>감전 유발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빛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성역</a:t>
            </a:r>
            <a:r>
              <a:rPr lang="en-US" altLang="ko-KR" sz="1600" dirty="0">
                <a:latin typeface="+mn-ea"/>
              </a:rPr>
              <a:t> 	– </a:t>
            </a:r>
            <a:r>
              <a:rPr lang="ko-KR" altLang="en-US" sz="1600" dirty="0">
                <a:latin typeface="+mn-ea"/>
              </a:rPr>
              <a:t>턴 종료 시 타일 위 대상의 디버프 </a:t>
            </a:r>
            <a:r>
              <a:rPr lang="en-US" altLang="ko-KR" sz="1600" dirty="0">
                <a:latin typeface="+mn-ea"/>
              </a:rPr>
              <a:t>1</a:t>
            </a:r>
            <a:r>
              <a:rPr lang="ko-KR" altLang="en-US" sz="1600" dirty="0">
                <a:latin typeface="+mn-ea"/>
              </a:rPr>
              <a:t>개 정화</a:t>
            </a:r>
            <a:endParaRPr lang="en-US" altLang="ko-KR" sz="1600" dirty="0">
              <a:latin typeface="+mn-ea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어둠 </a:t>
            </a:r>
            <a:r>
              <a:rPr lang="en-US" altLang="ko-KR" sz="1600" dirty="0">
                <a:latin typeface="+mn-ea"/>
              </a:rPr>
              <a:t>:	</a:t>
            </a:r>
            <a:r>
              <a:rPr lang="ko-KR" altLang="en-US" sz="1600" dirty="0">
                <a:latin typeface="+mn-ea"/>
              </a:rPr>
              <a:t>심연</a:t>
            </a:r>
            <a:r>
              <a:rPr lang="en-US" altLang="ko-KR" sz="1600" dirty="0">
                <a:latin typeface="+mn-ea"/>
              </a:rPr>
              <a:t> 	– </a:t>
            </a:r>
            <a:r>
              <a:rPr lang="ko-KR" altLang="en-US" sz="1600" dirty="0">
                <a:latin typeface="+mn-ea"/>
              </a:rPr>
              <a:t>턴 종료 시 타일 위 대상에게 혼란 스택 부여</a:t>
            </a:r>
            <a:r>
              <a:rPr lang="en-US" altLang="ko-KR" sz="1600" dirty="0">
                <a:latin typeface="+mn-ea"/>
              </a:rPr>
              <a:t> + </a:t>
            </a:r>
            <a:r>
              <a:rPr lang="ko-KR" altLang="en-US" sz="1600" dirty="0">
                <a:latin typeface="+mn-ea"/>
              </a:rPr>
              <a:t>타일 위에서는 치유불가</a:t>
            </a:r>
            <a:endParaRPr lang="en-US" altLang="ko-KR" sz="1600" dirty="0">
              <a:latin typeface="+mn-ea"/>
            </a:endParaRP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59F267D-8CF4-F8D5-8068-1DE4B8CA7D6C}"/>
              </a:ext>
            </a:extLst>
          </p:cNvPr>
          <p:cNvSpPr txBox="1">
            <a:spLocks/>
          </p:cNvSpPr>
          <p:nvPr/>
        </p:nvSpPr>
        <p:spPr>
          <a:xfrm>
            <a:off x="3917244" y="1825625"/>
            <a:ext cx="7436556" cy="5563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1800" b="1" dirty="0">
                <a:latin typeface="+mn-ea"/>
              </a:rPr>
              <a:t>*</a:t>
            </a:r>
            <a:r>
              <a:rPr lang="ko-KR" altLang="en-US" sz="1800" b="1" dirty="0">
                <a:latin typeface="+mn-ea"/>
              </a:rPr>
              <a:t>모든 속성 카드가 아닌</a:t>
            </a:r>
            <a:r>
              <a:rPr lang="en-US" altLang="ko-KR" sz="1800" b="1" dirty="0">
                <a:latin typeface="+mn-ea"/>
              </a:rPr>
              <a:t> </a:t>
            </a:r>
            <a:r>
              <a:rPr lang="ko-KR" altLang="en-US" sz="1800" b="1" dirty="0">
                <a:latin typeface="+mn-ea"/>
              </a:rPr>
              <a:t>특정한 카드들 만이 지형 변화를 유발 시킨다</a:t>
            </a:r>
            <a:endParaRPr lang="en-US" altLang="ko-KR" sz="1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33431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6AEC7-179A-BF59-B3C4-4F5B944D5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C9983E-703E-2870-2990-12042A46F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 </a:t>
            </a:r>
            <a:r>
              <a:rPr lang="ko-KR" altLang="en-US" dirty="0"/>
              <a:t>속성 및 지형 변화</a:t>
            </a:r>
            <a:r>
              <a:rPr lang="en-US" altLang="ko-KR" dirty="0"/>
              <a:t>, </a:t>
            </a:r>
            <a:r>
              <a:rPr lang="ko-KR" altLang="en-US" dirty="0"/>
              <a:t>연쇄 반응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59B004-46A9-9A24-3E56-356FE8D97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+mn-ea"/>
              </a:rPr>
              <a:t>&lt;</a:t>
            </a:r>
            <a:r>
              <a:rPr lang="ko-KR" altLang="en-US" sz="2000" b="1" dirty="0">
                <a:latin typeface="+mn-ea"/>
              </a:rPr>
              <a:t>지형 속성 연쇄 반응</a:t>
            </a:r>
            <a:r>
              <a:rPr lang="en-US" altLang="ko-KR" sz="2000" b="1" dirty="0">
                <a:latin typeface="+mn-ea"/>
              </a:rPr>
              <a:t>&gt;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불 </a:t>
            </a:r>
            <a:r>
              <a:rPr lang="en-US" altLang="ko-KR" sz="1600" dirty="0">
                <a:latin typeface="+mn-ea"/>
              </a:rPr>
              <a:t>+ </a:t>
            </a:r>
            <a:r>
              <a:rPr lang="ko-KR" altLang="en-US" sz="1600" dirty="0">
                <a:latin typeface="+mn-ea"/>
              </a:rPr>
              <a:t>물 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증발 타일로 변환</a:t>
            </a:r>
            <a:r>
              <a:rPr lang="en-US" altLang="ko-KR" sz="1600" dirty="0">
                <a:latin typeface="+mn-ea"/>
              </a:rPr>
              <a:t>	(</a:t>
            </a:r>
            <a:r>
              <a:rPr lang="ko-KR" altLang="en-US" sz="1600" dirty="0">
                <a:latin typeface="+mn-ea"/>
              </a:rPr>
              <a:t>증발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안개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이동 혼선 </a:t>
            </a:r>
            <a:r>
              <a:rPr lang="en-US" altLang="ko-KR" sz="1600" dirty="0">
                <a:latin typeface="+mn-ea"/>
              </a:rPr>
              <a:t>/ </a:t>
            </a:r>
            <a:r>
              <a:rPr lang="ko-KR" altLang="en-US" sz="1600" dirty="0">
                <a:latin typeface="+mn-ea"/>
              </a:rPr>
              <a:t>이후 화염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물 지형속성에 덮어씌워지거나 </a:t>
            </a:r>
            <a:r>
              <a:rPr lang="en-US" altLang="ko-KR" sz="1600" dirty="0">
                <a:latin typeface="+mn-ea"/>
              </a:rPr>
              <a:t>1</a:t>
            </a:r>
            <a:r>
              <a:rPr lang="ko-KR" altLang="en-US" sz="1600" dirty="0">
                <a:latin typeface="+mn-ea"/>
              </a:rPr>
              <a:t>턴 후 사라짐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+mn-ea"/>
              </a:rPr>
              <a:t>물</a:t>
            </a:r>
            <a:r>
              <a:rPr lang="en-US" altLang="ko-KR" sz="1600" dirty="0">
                <a:latin typeface="+mn-ea"/>
              </a:rPr>
              <a:t> + </a:t>
            </a:r>
            <a:r>
              <a:rPr lang="ko-KR" altLang="en-US" sz="1600" dirty="0">
                <a:latin typeface="+mn-ea"/>
              </a:rPr>
              <a:t>번개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연쇄 감전 </a:t>
            </a:r>
            <a:r>
              <a:rPr lang="en-US" altLang="ko-KR" sz="1600" dirty="0">
                <a:latin typeface="+mn-ea"/>
              </a:rPr>
              <a:t>-&gt; </a:t>
            </a:r>
            <a:r>
              <a:rPr lang="ko-KR" altLang="en-US" sz="1600" dirty="0">
                <a:latin typeface="+mn-ea"/>
              </a:rPr>
              <a:t>연결된 물 타일에 해당 영역 모두 감전</a:t>
            </a:r>
          </a:p>
          <a:p>
            <a:pPr>
              <a:lnSpc>
                <a:spcPct val="150000"/>
              </a:lnSpc>
              <a:buFontTx/>
              <a:buChar char="-"/>
            </a:pPr>
            <a:endParaRPr lang="en-US" altLang="ko-KR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02738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1B589-DD34-DFFC-7FB4-6BC0E5E96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5A634-FEC1-BEC1-6A0D-A8C997987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 </a:t>
            </a:r>
            <a:r>
              <a:rPr lang="ko-KR" altLang="en-US" dirty="0"/>
              <a:t>마석 장착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F21CF3-36B4-4EC3-9C65-E660CD83D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개념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각 마법 카드에 </a:t>
            </a:r>
            <a:r>
              <a:rPr lang="en-US" altLang="ko-KR" sz="2000" dirty="0">
                <a:latin typeface="+mn-ea"/>
              </a:rPr>
              <a:t>1~2</a:t>
            </a:r>
            <a:r>
              <a:rPr lang="ko-KR" altLang="en-US" sz="2000" dirty="0">
                <a:latin typeface="+mn-ea"/>
              </a:rPr>
              <a:t>개의 </a:t>
            </a:r>
            <a:r>
              <a:rPr lang="en-US" altLang="ko-KR" sz="2000" dirty="0">
                <a:latin typeface="+mn-ea"/>
              </a:rPr>
              <a:t>‘</a:t>
            </a:r>
            <a:r>
              <a:rPr lang="ko-KR" altLang="en-US" sz="2000" dirty="0">
                <a:latin typeface="+mn-ea"/>
              </a:rPr>
              <a:t>마석 소켓</a:t>
            </a:r>
            <a:r>
              <a:rPr lang="en-US" altLang="ko-KR" sz="2000" dirty="0">
                <a:latin typeface="+mn-ea"/>
              </a:rPr>
              <a:t>’</a:t>
            </a:r>
            <a:r>
              <a:rPr lang="ko-KR" altLang="en-US" sz="2000" dirty="0">
                <a:latin typeface="+mn-ea"/>
              </a:rPr>
              <a:t>이 존재하며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거점이나 상점 등에서 획득한 마석을 </a:t>
            </a:r>
            <a:r>
              <a:rPr lang="ko-KR" altLang="en-US" sz="2000" dirty="0" err="1">
                <a:latin typeface="+mn-ea"/>
              </a:rPr>
              <a:t>갈아끼우며</a:t>
            </a:r>
            <a:r>
              <a:rPr lang="ko-KR" altLang="en-US" sz="2000" dirty="0">
                <a:latin typeface="+mn-ea"/>
              </a:rPr>
              <a:t> 카드의 기능을 개조할 수 있다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특징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제한된 슬롯 내에서 조합을 찾으므로 밸런스 제어가 쉬움</a:t>
            </a: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예시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밀치기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이중 속성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지형 변화 유발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다중 시전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범위 확산</a:t>
            </a:r>
            <a:br>
              <a:rPr lang="en-US" altLang="ko-KR" sz="2000" dirty="0">
                <a:latin typeface="+mn-ea"/>
              </a:rPr>
            </a:br>
            <a:r>
              <a:rPr lang="ko-KR" altLang="en-US" sz="2000" dirty="0">
                <a:latin typeface="+mn-ea"/>
              </a:rPr>
              <a:t>페널티</a:t>
            </a:r>
            <a:r>
              <a:rPr lang="en-US" altLang="ko-KR" sz="2000" dirty="0">
                <a:latin typeface="+mn-ea"/>
              </a:rPr>
              <a:t>: AP </a:t>
            </a:r>
            <a:r>
              <a:rPr lang="ko-KR" altLang="en-US" sz="2000" dirty="0">
                <a:latin typeface="+mn-ea"/>
              </a:rPr>
              <a:t>소모 증가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체력 소모 추가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일시적 디버프 등</a:t>
            </a:r>
            <a:endParaRPr lang="en-US" altLang="ko-KR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66843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1060</Words>
  <Application>Microsoft Office PowerPoint</Application>
  <PresentationFormat>와이드스크린</PresentationFormat>
  <Paragraphs>118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Entropy</vt:lpstr>
      <vt:lpstr>목차</vt:lpstr>
      <vt:lpstr>1. 게임 개요</vt:lpstr>
      <vt:lpstr>2. 유사 게임 분석</vt:lpstr>
      <vt:lpstr>3. 세계관</vt:lpstr>
      <vt:lpstr>3.1. 전체 세계관</vt:lpstr>
      <vt:lpstr>3.2. 스토리</vt:lpstr>
      <vt:lpstr>3.3. 캐릭터</vt:lpstr>
      <vt:lpstr>4. 구조 및 형태</vt:lpstr>
      <vt:lpstr>4.1. Flow Chart</vt:lpstr>
      <vt:lpstr>4.2. UI</vt:lpstr>
      <vt:lpstr>4.3. 키 설정</vt:lpstr>
      <vt:lpstr>5. Game System</vt:lpstr>
      <vt:lpstr>5.1. 행동력 (AP) 규칙</vt:lpstr>
      <vt:lpstr>5.2. 턴 흐름 및 적 AI</vt:lpstr>
      <vt:lpstr>5.3. 속성 및 지형 변화, 연쇄 반응</vt:lpstr>
      <vt:lpstr>5.3. 속성 및 지형 변화, 연쇄 반응</vt:lpstr>
      <vt:lpstr>5.3. 속성 및 지형 변화, 연쇄 반응</vt:lpstr>
      <vt:lpstr>5.3. 속성 및 지형 변화, 연쇄 반응</vt:lpstr>
      <vt:lpstr>5.4. 마석 장착 시스템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 kevin</dc:creator>
  <cp:lastModifiedBy>cho kevin</cp:lastModifiedBy>
  <cp:revision>180</cp:revision>
  <dcterms:created xsi:type="dcterms:W3CDTF">2026-07-11T11:17:54Z</dcterms:created>
  <dcterms:modified xsi:type="dcterms:W3CDTF">2026-07-14T09:34:21Z</dcterms:modified>
</cp:coreProperties>
</file>