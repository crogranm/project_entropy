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  <p:sldId id="266" r:id="rId11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5" d="100"/>
          <a:sy n="85" d="100"/>
        </p:scale>
        <p:origin x="108" y="4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DC96AEB-F0DF-16F5-9A9B-4F31CA7D84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7E36116-9EF4-35B5-9316-311A15972D9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F1E84A0-099D-73AD-2A4F-C375E0342D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CF2A0E-2FBA-4159-9323-C233CC2AF0DB}" type="datetimeFigureOut">
              <a:rPr lang="ko-KR" altLang="en-US" smtClean="0"/>
              <a:t>2026-07-12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267A9CA-9E42-9A72-9EF3-8CF8B74693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BC27F00-F9A7-87CA-0044-1A0F32E337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0DF58-A56D-43F9-AA51-42CF3D3F872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886466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225B44F-A993-1174-50DE-DB9063A085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F338F57-9F6B-1E10-C523-9A05CDB8BA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997E80D-5063-001D-7A21-5BAA320D78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CF2A0E-2FBA-4159-9323-C233CC2AF0DB}" type="datetimeFigureOut">
              <a:rPr lang="ko-KR" altLang="en-US" smtClean="0"/>
              <a:t>2026-07-12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738564C-1156-A3F5-F222-0F49B3826A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9F70073-5B84-9E3E-5ADB-03F4919FA3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0DF58-A56D-43F9-AA51-42CF3D3F872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392647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B2C584A-7760-BEE3-6E7D-B2D1A4CFA8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7ADD833-1CC4-9FE4-0B56-F5DD2930A1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A85FAAC-49FF-3413-48DD-B4F8B50DF3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CF2A0E-2FBA-4159-9323-C233CC2AF0DB}" type="datetimeFigureOut">
              <a:rPr lang="ko-KR" altLang="en-US" smtClean="0"/>
              <a:t>2026-07-12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25582E8-A480-3DB8-810D-BBAAED4EBC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CD44FBC-AB81-AFFB-E352-61DEB3A51A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0DF58-A56D-43F9-AA51-42CF3D3F872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792522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F7ED562-4EA5-D5C2-EE61-F044C0F53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F845632-A8F4-4F10-D692-3FAB56C2B42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F1158FE-5E22-94F0-0127-59A13D6BD0E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0D6177E-BF06-D452-3F0C-A98BF43B9D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CF2A0E-2FBA-4159-9323-C233CC2AF0DB}" type="datetimeFigureOut">
              <a:rPr lang="ko-KR" altLang="en-US" smtClean="0"/>
              <a:t>2026-07-12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6400E8A-0B63-92B0-0518-283D704A34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77D90B6-3249-9846-F955-CFA1F5B157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0DF58-A56D-43F9-AA51-42CF3D3F872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743137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56D1227-AE04-BE1C-2B7C-DA9E3FC87F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A9880E7-4D09-423D-465A-2447A297CA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99CDD5D-7EE9-9EC2-80F7-BD3FB9C0AD2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AAD4190A-51F9-33BB-0F38-1F36FCC13E1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EF0C8C58-F9D2-2067-3F1A-470900197B4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6941233-A304-B3BF-EBB8-A3B218B040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CF2A0E-2FBA-4159-9323-C233CC2AF0DB}" type="datetimeFigureOut">
              <a:rPr lang="ko-KR" altLang="en-US" smtClean="0"/>
              <a:t>2026-07-12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787088C-1731-FF54-4755-BD444059CE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E1890137-604A-14B9-F235-1A2B655604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0DF58-A56D-43F9-AA51-42CF3D3F872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029300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106184-8205-9ADB-4859-19B27BD1F0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7C3280F-4D74-30D1-2159-E0A56BC8B1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CF2A0E-2FBA-4159-9323-C233CC2AF0DB}" type="datetimeFigureOut">
              <a:rPr lang="ko-KR" altLang="en-US" smtClean="0"/>
              <a:t>2026-07-12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53434439-DAAE-9551-7016-E7387B28C8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AD828A3-1465-DBC9-3616-2705577390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0DF58-A56D-43F9-AA51-42CF3D3F872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986090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696837AB-79FC-9021-560C-2B5EFD3AF1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CF2A0E-2FBA-4159-9323-C233CC2AF0DB}" type="datetimeFigureOut">
              <a:rPr lang="ko-KR" altLang="en-US" smtClean="0"/>
              <a:t>2026-07-12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1D1EA959-18C2-9426-5357-42EE1473EC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6A7B606-758E-8B04-D5DB-8590B8EF32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0DF58-A56D-43F9-AA51-42CF3D3F872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84695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B334201-BE5E-8F32-D14A-38262DF8B5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5C0FF42-35F3-BAE6-165F-5CE98C910A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F78ABB2-D6ED-A8BA-8483-E07AD9E0EC5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199D2ED-6ECF-C95B-9A59-CE57A90A26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CF2A0E-2FBA-4159-9323-C233CC2AF0DB}" type="datetimeFigureOut">
              <a:rPr lang="ko-KR" altLang="en-US" smtClean="0"/>
              <a:t>2026-07-12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F1D537E-643A-F18B-8C0B-3C36DE5151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22E62E0-32ED-4756-77C2-3B38995599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0DF58-A56D-43F9-AA51-42CF3D3F872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28222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32D5C39-FA11-9354-C93F-340EB495BB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C7430613-8653-7454-7AF2-FE8118B79E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98FF89C-049B-FEE5-9F49-557FB4C8FA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32C1971-A621-86BA-67B8-7AB8ECD8D4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CF2A0E-2FBA-4159-9323-C233CC2AF0DB}" type="datetimeFigureOut">
              <a:rPr lang="ko-KR" altLang="en-US" smtClean="0"/>
              <a:t>2026-07-12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E0C5C99-AD7D-C04D-BCB8-59A67555EF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B3648D7-B070-4B11-B0D3-34496D9799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0DF58-A56D-43F9-AA51-42CF3D3F872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452341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CFEFA85-F472-AEBD-3314-384B0DE158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287FAC3-B368-2026-341B-41E6A5918E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5584F8D-DBDF-8CCB-A4FC-5CB62ED581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CF2A0E-2FBA-4159-9323-C233CC2AF0DB}" type="datetimeFigureOut">
              <a:rPr lang="ko-KR" altLang="en-US" smtClean="0"/>
              <a:t>2026-07-12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F3E2C47-5D04-F2FD-3C52-55866CC44E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6BDE404-6304-8F0B-0444-FA88521B28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0DF58-A56D-43F9-AA51-42CF3D3F872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35112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BB973A89-E637-BFFE-3968-E7A8230DC5A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68BC648-7DE9-689A-3791-35D22B8BEC7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7911A66-D8D2-7982-82FD-80C589DDE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CF2A0E-2FBA-4159-9323-C233CC2AF0DB}" type="datetimeFigureOut">
              <a:rPr lang="ko-KR" altLang="en-US" smtClean="0"/>
              <a:t>2026-07-12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E0DE5F0-0169-12B6-AB6C-A81CC240A9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C0F6C13-C87E-F18A-F234-F7F6C1BD91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0DF58-A56D-43F9-AA51-42CF3D3F872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35184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05FD49B7-7F62-7727-669A-C303B3AE66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80FC940-19BF-2B0A-8355-D36704432C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AEB100F-2D92-42EE-754A-BE473E54035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ECF2A0E-2FBA-4159-9323-C233CC2AF0DB}" type="datetimeFigureOut">
              <a:rPr lang="ko-KR" altLang="en-US" smtClean="0"/>
              <a:t>2026-07-12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33F7B5E-EF13-3651-42EF-2D9D600BDEC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7DE36A4-36CC-C92F-9E6D-0C2EA4B8BA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1D0DF58-A56D-43F9-AA51-42CF3D3F872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242230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21A8E9-6466-71EB-7CEF-6BCF16A1462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Entropy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0D414F2B-1559-FEF6-96E5-2E717326CFC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dirty="0"/>
              <a:t>혼돈의 세계</a:t>
            </a:r>
          </a:p>
        </p:txBody>
      </p:sp>
    </p:spTree>
    <p:extLst>
      <p:ext uri="{BB962C8B-B14F-4D97-AF65-F5344CB8AC3E}">
        <p14:creationId xmlns:p14="http://schemas.microsoft.com/office/powerpoint/2010/main" val="35837077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B918239-E813-3EA0-0F3E-2EC49FF19B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목차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2008425-EC0E-E4E3-237D-738B0F55B5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106333" cy="5032376"/>
          </a:xfrm>
        </p:spPr>
        <p:txBody>
          <a:bodyPr>
            <a:normAutofit/>
          </a:bodyPr>
          <a:lstStyle/>
          <a:p>
            <a:pPr marL="457200" indent="-457200">
              <a:lnSpc>
                <a:spcPct val="150000"/>
              </a:lnSpc>
              <a:buAutoNum type="arabicPeriod"/>
            </a:pPr>
            <a:r>
              <a:rPr lang="ko-KR" altLang="en-US" sz="2000" dirty="0"/>
              <a:t>게임 개요</a:t>
            </a:r>
            <a:endParaRPr lang="en-US" altLang="ko-KR" sz="2000" dirty="0"/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ko-KR" altLang="en-US" sz="2000" dirty="0"/>
              <a:t>유사 게임 분석</a:t>
            </a:r>
            <a:endParaRPr lang="en-US" altLang="ko-KR" sz="2000" dirty="0"/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ko-KR" altLang="en-US" sz="2000" dirty="0"/>
              <a:t>세계관</a:t>
            </a:r>
            <a:endParaRPr lang="en-US" altLang="ko-KR" sz="2000" dirty="0"/>
          </a:p>
          <a:p>
            <a:pPr marL="914400" lvl="1" indent="-457200">
              <a:lnSpc>
                <a:spcPct val="150000"/>
              </a:lnSpc>
              <a:buAutoNum type="arabicPeriod"/>
            </a:pPr>
            <a:r>
              <a:rPr lang="ko-KR" altLang="en-US" sz="1600" dirty="0"/>
              <a:t>전체</a:t>
            </a:r>
            <a:r>
              <a:rPr lang="en-US" altLang="ko-KR" sz="1600" dirty="0"/>
              <a:t> </a:t>
            </a:r>
            <a:r>
              <a:rPr lang="ko-KR" altLang="en-US" sz="1600" dirty="0"/>
              <a:t>세계관</a:t>
            </a:r>
            <a:endParaRPr lang="en-US" altLang="ko-KR" sz="1600" dirty="0"/>
          </a:p>
          <a:p>
            <a:pPr marL="914400" lvl="1" indent="-457200">
              <a:lnSpc>
                <a:spcPct val="150000"/>
              </a:lnSpc>
              <a:buAutoNum type="arabicPeriod"/>
            </a:pPr>
            <a:r>
              <a:rPr lang="ko-KR" altLang="en-US" sz="1600" dirty="0"/>
              <a:t>스토리</a:t>
            </a:r>
            <a:endParaRPr lang="en-US" altLang="ko-KR" sz="1600" dirty="0"/>
          </a:p>
          <a:p>
            <a:pPr marL="914400" lvl="1" indent="-457200">
              <a:lnSpc>
                <a:spcPct val="150000"/>
              </a:lnSpc>
              <a:buAutoNum type="arabicPeriod"/>
            </a:pPr>
            <a:r>
              <a:rPr lang="ko-KR" altLang="en-US" sz="1600" dirty="0"/>
              <a:t>캐릭터</a:t>
            </a:r>
            <a:endParaRPr lang="en-US" altLang="ko-KR" sz="1600" dirty="0"/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ko-KR" altLang="en-US" sz="2000" dirty="0"/>
              <a:t>구조 및 형태</a:t>
            </a:r>
            <a:endParaRPr lang="en-US" altLang="ko-KR" sz="2000" dirty="0"/>
          </a:p>
          <a:p>
            <a:pPr marL="914400" lvl="1" indent="-457200">
              <a:lnSpc>
                <a:spcPct val="150000"/>
              </a:lnSpc>
              <a:buAutoNum type="arabicPeriod"/>
            </a:pPr>
            <a:r>
              <a:rPr lang="en-US" altLang="ko-KR" sz="1600" dirty="0"/>
              <a:t>Flow Chart</a:t>
            </a:r>
          </a:p>
          <a:p>
            <a:pPr marL="914400" lvl="1" indent="-457200">
              <a:lnSpc>
                <a:spcPct val="150000"/>
              </a:lnSpc>
              <a:buAutoNum type="arabicPeriod"/>
            </a:pPr>
            <a:r>
              <a:rPr lang="en-US" altLang="ko-KR" sz="1600" dirty="0"/>
              <a:t>UI</a:t>
            </a:r>
          </a:p>
          <a:p>
            <a:pPr marL="914400" lvl="1" indent="-457200">
              <a:lnSpc>
                <a:spcPct val="150000"/>
              </a:lnSpc>
              <a:buAutoNum type="arabicPeriod"/>
            </a:pPr>
            <a:r>
              <a:rPr lang="en-US" altLang="ko-KR" sz="1600" dirty="0"/>
              <a:t>Key Settings</a:t>
            </a: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52728993-5CEE-3287-A44A-2D6F08A30CA4}"/>
              </a:ext>
            </a:extLst>
          </p:cNvPr>
          <p:cNvSpPr txBox="1">
            <a:spLocks/>
          </p:cNvSpPr>
          <p:nvPr/>
        </p:nvSpPr>
        <p:spPr>
          <a:xfrm>
            <a:off x="4944533" y="1825624"/>
            <a:ext cx="4106333" cy="50323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altLang="ko-KR" sz="2000" dirty="0"/>
              <a:t>5.   Game System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AutoNum type="arabicPeriod"/>
            </a:pPr>
            <a:r>
              <a:rPr lang="ko-KR" altLang="en-US" sz="1600" dirty="0"/>
              <a:t>기본 룰</a:t>
            </a:r>
            <a:endParaRPr lang="en-US" altLang="ko-KR" sz="1600" dirty="0"/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AutoNum type="arabicPeriod"/>
            </a:pPr>
            <a:r>
              <a:rPr lang="ko-KR" altLang="en-US" sz="1600" dirty="0"/>
              <a:t>스테이지 구성</a:t>
            </a: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37580080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B1733E4-8118-4A3B-6B8F-49AC3E621C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ko-KR" altLang="en-US" dirty="0"/>
              <a:t>게임 개요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2F474D3-4B81-7B98-8B17-B1AE4BDB29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ko-KR" altLang="en-US" sz="2000" b="1" dirty="0"/>
              <a:t>장르</a:t>
            </a:r>
            <a:r>
              <a:rPr lang="en-US" altLang="ko-KR" sz="2000" b="1" dirty="0"/>
              <a:t>: </a:t>
            </a:r>
            <a:r>
              <a:rPr lang="ko-KR" altLang="en-US" sz="2000" dirty="0"/>
              <a:t>턴제</a:t>
            </a:r>
            <a:r>
              <a:rPr lang="en-US" altLang="ko-KR" sz="2000" dirty="0"/>
              <a:t>, </a:t>
            </a:r>
            <a:r>
              <a:rPr lang="ko-KR" altLang="en-US" sz="2000" dirty="0"/>
              <a:t>카드게임</a:t>
            </a:r>
            <a:r>
              <a:rPr lang="en-US" altLang="ko-KR" sz="2000" dirty="0"/>
              <a:t>, </a:t>
            </a:r>
            <a:r>
              <a:rPr lang="ko-KR" altLang="en-US" sz="2000" dirty="0"/>
              <a:t>체스</a:t>
            </a:r>
            <a:r>
              <a:rPr lang="en-US" altLang="ko-KR" sz="2000" dirty="0"/>
              <a:t>, </a:t>
            </a:r>
            <a:r>
              <a:rPr lang="ko-KR" altLang="en-US" sz="2000" dirty="0"/>
              <a:t>그리드</a:t>
            </a:r>
            <a:r>
              <a:rPr lang="en-US" altLang="ko-KR" sz="2000" dirty="0"/>
              <a:t>(</a:t>
            </a:r>
            <a:r>
              <a:rPr lang="ko-KR" altLang="en-US" sz="2000" dirty="0"/>
              <a:t>배열</a:t>
            </a:r>
            <a:r>
              <a:rPr lang="en-US" altLang="ko-KR" sz="2000" dirty="0"/>
              <a:t>), </a:t>
            </a:r>
            <a:r>
              <a:rPr lang="ko-KR" altLang="en-US" sz="2000" dirty="0"/>
              <a:t>덱빌딩 로그라이크</a:t>
            </a:r>
            <a:endParaRPr lang="en-US" altLang="ko-KR" sz="2000" dirty="0"/>
          </a:p>
          <a:p>
            <a:pPr>
              <a:lnSpc>
                <a:spcPct val="100000"/>
              </a:lnSpc>
            </a:pPr>
            <a:endParaRPr lang="en-US" altLang="ko-KR" sz="2000" dirty="0"/>
          </a:p>
          <a:p>
            <a:pPr>
              <a:lnSpc>
                <a:spcPct val="100000"/>
              </a:lnSpc>
            </a:pPr>
            <a:r>
              <a:rPr lang="ko-KR" altLang="en-US" sz="2000" b="1" dirty="0"/>
              <a:t>핵심 플레이 타임</a:t>
            </a:r>
            <a:r>
              <a:rPr lang="en-US" altLang="ko-KR" sz="2000" b="1" dirty="0"/>
              <a:t>: </a:t>
            </a:r>
            <a:r>
              <a:rPr lang="ko-KR" altLang="en-US" sz="2000" dirty="0"/>
              <a:t>한 판당 </a:t>
            </a:r>
            <a:r>
              <a:rPr lang="en-US" altLang="ko-KR" sz="2000" dirty="0">
                <a:solidFill>
                  <a:srgbClr val="FF0000"/>
                </a:solidFill>
              </a:rPr>
              <a:t>1</a:t>
            </a:r>
            <a:r>
              <a:rPr lang="ko-KR" altLang="en-US" sz="2000" dirty="0">
                <a:solidFill>
                  <a:srgbClr val="FF0000"/>
                </a:solidFill>
              </a:rPr>
              <a:t>시간 </a:t>
            </a:r>
            <a:r>
              <a:rPr lang="ko-KR" altLang="en-US" sz="2000" dirty="0"/>
              <a:t>내외의 세션으로 구성</a:t>
            </a:r>
          </a:p>
        </p:txBody>
      </p:sp>
    </p:spTree>
    <p:extLst>
      <p:ext uri="{BB962C8B-B14F-4D97-AF65-F5344CB8AC3E}">
        <p14:creationId xmlns:p14="http://schemas.microsoft.com/office/powerpoint/2010/main" val="36506176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BCE99A-2C86-E915-4A1D-5556F5D9D1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E0D69E-C5C7-4D89-00A4-1060D72BAF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2. </a:t>
            </a:r>
            <a:r>
              <a:rPr lang="ko-KR" altLang="en-US" dirty="0"/>
              <a:t>유사 게임 분석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D752AC1-7357-E12A-DF91-010F8CA72E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 altLang="ko-KR" sz="2000" b="1" dirty="0"/>
              <a:t>Slay the Spire: </a:t>
            </a:r>
            <a:r>
              <a:rPr lang="ko-KR" altLang="en-US" sz="2000" dirty="0"/>
              <a:t>스테이지 이동 시 노드를 선택하여 진행하는 맵 이동 방식 차용</a:t>
            </a:r>
            <a:endParaRPr lang="en-US" altLang="ko-KR" sz="2000" dirty="0"/>
          </a:p>
          <a:p>
            <a:pPr marL="0" indent="0">
              <a:lnSpc>
                <a:spcPct val="100000"/>
              </a:lnSpc>
              <a:buNone/>
            </a:pPr>
            <a:endParaRPr lang="en-US" altLang="ko-KR" sz="2000" dirty="0"/>
          </a:p>
          <a:p>
            <a:pPr>
              <a:lnSpc>
                <a:spcPct val="100000"/>
              </a:lnSpc>
            </a:pPr>
            <a:r>
              <a:rPr lang="en-US" altLang="ko-KR" sz="2000" b="1" dirty="0" err="1"/>
              <a:t>Noita</a:t>
            </a:r>
            <a:r>
              <a:rPr lang="en-US" altLang="ko-KR" sz="2000" b="1" dirty="0"/>
              <a:t>: </a:t>
            </a:r>
            <a:r>
              <a:rPr lang="ko-KR" altLang="en-US" sz="2000" dirty="0"/>
              <a:t>상점에서 신이 무작위 아이템을 </a:t>
            </a:r>
            <a:r>
              <a:rPr lang="ko-KR" altLang="en-US" sz="2000" dirty="0" err="1"/>
              <a:t>스폰해주고</a:t>
            </a:r>
            <a:r>
              <a:rPr lang="ko-KR" altLang="en-US" sz="2000" dirty="0"/>
              <a:t> 제물을 바치는 컨셉 차용</a:t>
            </a:r>
          </a:p>
        </p:txBody>
      </p:sp>
    </p:spTree>
    <p:extLst>
      <p:ext uri="{BB962C8B-B14F-4D97-AF65-F5344CB8AC3E}">
        <p14:creationId xmlns:p14="http://schemas.microsoft.com/office/powerpoint/2010/main" val="22200408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0D8F25-67A5-54FF-E404-71DC8F3E88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875853-4928-28E1-19F9-2F91413F95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ko-KR" altLang="en-US" dirty="0"/>
              <a:t>세계관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039EF24-B485-2D55-5FDF-A657A55B1C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 altLang="ko-KR" sz="2000" dirty="0"/>
              <a:t>3.1. </a:t>
            </a:r>
            <a:r>
              <a:rPr lang="ko-KR" altLang="en-US" sz="2000" dirty="0"/>
              <a:t>전체 세계관</a:t>
            </a:r>
            <a:endParaRPr lang="en-US" altLang="ko-KR" sz="2000" dirty="0"/>
          </a:p>
          <a:p>
            <a:pPr>
              <a:lnSpc>
                <a:spcPct val="100000"/>
              </a:lnSpc>
            </a:pPr>
            <a:endParaRPr lang="en-US" altLang="ko-KR" sz="2000" dirty="0"/>
          </a:p>
          <a:p>
            <a:pPr>
              <a:lnSpc>
                <a:spcPct val="100000"/>
              </a:lnSpc>
            </a:pPr>
            <a:r>
              <a:rPr lang="en-US" altLang="ko-KR" sz="2000" dirty="0"/>
              <a:t>3.2. </a:t>
            </a:r>
            <a:r>
              <a:rPr lang="ko-KR" altLang="en-US" sz="2000" dirty="0"/>
              <a:t>스토리</a:t>
            </a:r>
            <a:endParaRPr lang="en-US" altLang="ko-KR" sz="2000" dirty="0"/>
          </a:p>
          <a:p>
            <a:pPr>
              <a:lnSpc>
                <a:spcPct val="100000"/>
              </a:lnSpc>
            </a:pPr>
            <a:endParaRPr lang="en-US" altLang="ko-KR" sz="2000" dirty="0"/>
          </a:p>
          <a:p>
            <a:pPr>
              <a:lnSpc>
                <a:spcPct val="100000"/>
              </a:lnSpc>
            </a:pPr>
            <a:r>
              <a:rPr lang="en-US" altLang="ko-KR" sz="2000" dirty="0"/>
              <a:t>3.3. </a:t>
            </a:r>
            <a:r>
              <a:rPr lang="ko-KR" altLang="en-US" sz="2000" dirty="0"/>
              <a:t>캐릭터</a:t>
            </a:r>
          </a:p>
        </p:txBody>
      </p:sp>
    </p:spTree>
    <p:extLst>
      <p:ext uri="{BB962C8B-B14F-4D97-AF65-F5344CB8AC3E}">
        <p14:creationId xmlns:p14="http://schemas.microsoft.com/office/powerpoint/2010/main" val="34517121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F39394-5AE7-110C-8D38-2571F8FB1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BFC43E7-43D9-1D84-9E36-E72563399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3.1. </a:t>
            </a:r>
            <a:r>
              <a:rPr lang="ko-KR" altLang="en-US" dirty="0"/>
              <a:t>전체 세계관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35ABD84-BE81-8E32-C083-0EADB4119D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dirty="0"/>
              <a:t>악마들이 깨운 </a:t>
            </a:r>
            <a:r>
              <a:rPr lang="ko-KR" altLang="en-US" sz="2000" dirty="0">
                <a:solidFill>
                  <a:srgbClr val="FF0000"/>
                </a:solidFill>
              </a:rPr>
              <a:t>재앙</a:t>
            </a:r>
            <a:r>
              <a:rPr lang="ko-KR" altLang="en-US" sz="2000" dirty="0"/>
              <a:t>에 휘말려 원소는 불안정해지고 마력이 흐트러지는 등 </a:t>
            </a:r>
            <a:br>
              <a:rPr lang="en-US" altLang="ko-KR" sz="2000" dirty="0"/>
            </a:br>
            <a:r>
              <a:rPr lang="ko-KR" altLang="en-US" sz="2000" dirty="0"/>
              <a:t>영문 모를 현상들이 일어나는 멸망 직전의 세계</a:t>
            </a:r>
            <a:endParaRPr lang="en-US" altLang="ko-KR" sz="2000" dirty="0"/>
          </a:p>
          <a:p>
            <a:pPr>
              <a:lnSpc>
                <a:spcPct val="150000"/>
              </a:lnSpc>
            </a:pPr>
            <a:endParaRPr lang="en-US" altLang="ko-KR" sz="2000" dirty="0"/>
          </a:p>
          <a:p>
            <a:pPr>
              <a:lnSpc>
                <a:spcPct val="150000"/>
              </a:lnSpc>
            </a:pPr>
            <a:r>
              <a:rPr lang="ko-KR" altLang="en-US" sz="2000" dirty="0"/>
              <a:t>세계를 멸망시키려던 악마들조차 이 재앙에 휘말려 지성을 잃고 몬스터화 되었고</a:t>
            </a:r>
            <a:r>
              <a:rPr lang="en-US" altLang="ko-KR" sz="2000" dirty="0"/>
              <a:t>, </a:t>
            </a:r>
            <a:br>
              <a:rPr lang="en-US" altLang="ko-KR" sz="2000" dirty="0"/>
            </a:br>
            <a:r>
              <a:rPr lang="ko-KR" altLang="en-US" sz="2000" dirty="0"/>
              <a:t>왕궁 지하에는 </a:t>
            </a:r>
            <a:r>
              <a:rPr lang="en-US" altLang="ko-KR" sz="2000" dirty="0">
                <a:solidFill>
                  <a:schemeClr val="accent5">
                    <a:lumMod val="75000"/>
                  </a:schemeClr>
                </a:solidFill>
              </a:rPr>
              <a:t>‘</a:t>
            </a:r>
            <a:r>
              <a:rPr lang="ko-KR" altLang="en-US" sz="2000" dirty="0">
                <a:solidFill>
                  <a:schemeClr val="accent5">
                    <a:lumMod val="75000"/>
                  </a:schemeClr>
                </a:solidFill>
              </a:rPr>
              <a:t>엔트로피</a:t>
            </a:r>
            <a:r>
              <a:rPr lang="en-US" altLang="ko-KR" sz="2000" dirty="0">
                <a:solidFill>
                  <a:schemeClr val="accent5">
                    <a:lumMod val="75000"/>
                  </a:schemeClr>
                </a:solidFill>
              </a:rPr>
              <a:t>’</a:t>
            </a:r>
            <a:r>
              <a:rPr lang="ko-KR" altLang="en-US" sz="2000" dirty="0"/>
              <a:t>라 불리는 지성 없는 혼돈이 자리 잡고 있다</a:t>
            </a:r>
            <a:r>
              <a:rPr lang="en-US" altLang="ko-KR" sz="2000" dirty="0"/>
              <a:t>.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10682706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2257D3-77E4-DB99-E0F6-76E7AE6331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8BF67C8-F280-D029-C4A0-A46AE53759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3.2. </a:t>
            </a:r>
            <a:r>
              <a:rPr lang="ko-KR" altLang="en-US" dirty="0"/>
              <a:t>스토리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231CC7B-D791-96EB-58AC-F61FDD41DF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dirty="0"/>
              <a:t>수천 년 전 악마의 저주로 </a:t>
            </a:r>
            <a:r>
              <a:rPr lang="ko-KR" altLang="en-US" sz="2000" dirty="0">
                <a:solidFill>
                  <a:srgbClr val="7030A0"/>
                </a:solidFill>
              </a:rPr>
              <a:t>리치</a:t>
            </a:r>
            <a:r>
              <a:rPr lang="ko-KR" altLang="en-US" sz="2000" dirty="0"/>
              <a:t>가 되어 스스로를 왕궁 지하에 봉인했던 </a:t>
            </a:r>
            <a:br>
              <a:rPr lang="en-US" altLang="ko-KR" sz="2000" dirty="0"/>
            </a:br>
            <a:r>
              <a:rPr lang="ko-KR" altLang="en-US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현자</a:t>
            </a:r>
            <a:r>
              <a:rPr lang="en-US" altLang="ko-KR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(</a:t>
            </a:r>
            <a:r>
              <a:rPr lang="ko-KR" altLang="en-US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연금술사</a:t>
            </a:r>
            <a:r>
              <a:rPr lang="en-US" altLang="ko-KR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)</a:t>
            </a:r>
            <a:r>
              <a:rPr lang="ko-KR" altLang="en-US" sz="2000" dirty="0"/>
              <a:t>가 부스러기 마력만 남은 채로 눈을 뜨게 된다</a:t>
            </a:r>
            <a:r>
              <a:rPr lang="en-US" altLang="ko-KR" sz="2000" dirty="0"/>
              <a:t>. </a:t>
            </a:r>
          </a:p>
          <a:p>
            <a:pPr lvl="1">
              <a:lnSpc>
                <a:spcPct val="150000"/>
              </a:lnSpc>
            </a:pPr>
            <a:r>
              <a:rPr lang="ko-KR" altLang="en-US" sz="1400" dirty="0"/>
              <a:t>죽으려면 라이프베슬이 필요했지만 어디 있는지는 몰랐다는 설정</a:t>
            </a:r>
            <a:endParaRPr lang="en-US" altLang="ko-KR" sz="1400" dirty="0"/>
          </a:p>
          <a:p>
            <a:pPr lvl="1">
              <a:lnSpc>
                <a:spcPct val="150000"/>
              </a:lnSpc>
            </a:pPr>
            <a:r>
              <a:rPr lang="ko-KR" altLang="en-US" sz="1400" dirty="0"/>
              <a:t>재앙으로 왕궁 지하 봉인지가 무너져 한번 죽고</a:t>
            </a:r>
            <a:r>
              <a:rPr lang="en-US" altLang="ko-KR" sz="1400" dirty="0"/>
              <a:t>, </a:t>
            </a:r>
            <a:r>
              <a:rPr lang="ko-KR" altLang="en-US" sz="1400" dirty="0"/>
              <a:t>라이프베슬 앞에서 부활하게 된 것 </a:t>
            </a:r>
            <a:r>
              <a:rPr lang="en-US" altLang="ko-KR" sz="1400" dirty="0"/>
              <a:t>(</a:t>
            </a:r>
            <a:r>
              <a:rPr lang="ko-KR" altLang="en-US" sz="1400" dirty="0"/>
              <a:t>원래는 왕궁에서 부활했었다</a:t>
            </a:r>
            <a:r>
              <a:rPr lang="en-US" altLang="ko-KR" sz="1400" dirty="0"/>
              <a:t>.)</a:t>
            </a:r>
          </a:p>
          <a:p>
            <a:pPr>
              <a:lnSpc>
                <a:spcPct val="150000"/>
              </a:lnSpc>
            </a:pPr>
            <a:r>
              <a:rPr lang="ko-KR" altLang="en-US" sz="2000" dirty="0"/>
              <a:t>뒤틀리며 멸망하는 세계의 광경</a:t>
            </a:r>
            <a:r>
              <a:rPr lang="en-US" altLang="ko-KR" sz="2000" dirty="0"/>
              <a:t>(</a:t>
            </a:r>
            <a:r>
              <a:rPr lang="ko-KR" altLang="en-US" sz="2000" dirty="0"/>
              <a:t>꿈</a:t>
            </a:r>
            <a:r>
              <a:rPr lang="en-US" altLang="ko-KR" sz="2000" dirty="0"/>
              <a:t>)</a:t>
            </a:r>
            <a:r>
              <a:rPr lang="ko-KR" altLang="en-US" sz="2000" dirty="0"/>
              <a:t>에 눈을 뜬 주인공은 흩어진 마석과 마법을 모아 </a:t>
            </a:r>
            <a:br>
              <a:rPr lang="en-US" altLang="ko-KR" sz="2000" dirty="0"/>
            </a:br>
            <a:r>
              <a:rPr lang="ko-KR" altLang="en-US" sz="2000" dirty="0"/>
              <a:t>재앙을 해체해야 한다</a:t>
            </a:r>
            <a:r>
              <a:rPr lang="en-US" altLang="ko-KR" sz="2000" dirty="0"/>
              <a:t>.</a:t>
            </a:r>
            <a:r>
              <a:rPr lang="ko-KR" altLang="en-US" sz="2000" dirty="0"/>
              <a:t> </a:t>
            </a:r>
            <a:endParaRPr lang="en-US" altLang="ko-KR" sz="2000" dirty="0"/>
          </a:p>
          <a:p>
            <a:pPr>
              <a:lnSpc>
                <a:spcPct val="150000"/>
              </a:lnSpc>
            </a:pPr>
            <a:r>
              <a:rPr lang="ko-KR" altLang="en-US" sz="2000" dirty="0"/>
              <a:t>엔딩</a:t>
            </a:r>
            <a:r>
              <a:rPr lang="en-US" altLang="ko-KR" sz="2000" dirty="0"/>
              <a:t>: </a:t>
            </a:r>
            <a:r>
              <a:rPr lang="ko-KR" altLang="en-US" sz="2000" dirty="0"/>
              <a:t>마력 없는 세계 </a:t>
            </a:r>
            <a:r>
              <a:rPr lang="en-US" altLang="ko-KR" sz="2000" dirty="0"/>
              <a:t>(</a:t>
            </a:r>
            <a:r>
              <a:rPr lang="ko-KR" altLang="en-US" sz="2000" dirty="0"/>
              <a:t>먼 미래에는 현대의 지구처럼 변함</a:t>
            </a:r>
            <a:r>
              <a:rPr lang="en-US" altLang="ko-KR" sz="2000" dirty="0"/>
              <a:t>)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10283254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C1AFCC-321D-6963-4EFF-6DE953DB25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AE25485-143B-F494-7A40-921CA9A9BE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3.3. </a:t>
            </a:r>
            <a:r>
              <a:rPr lang="ko-KR" altLang="en-US" dirty="0"/>
              <a:t>캐릭터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6ECD976-4A62-8453-AA7D-802A4A6635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dirty="0"/>
              <a:t>주인공</a:t>
            </a:r>
            <a:r>
              <a:rPr lang="en-US" altLang="ko-KR" sz="2000" dirty="0"/>
              <a:t>: </a:t>
            </a:r>
            <a:r>
              <a:rPr lang="ko-KR" altLang="en-US" sz="2000" dirty="0"/>
              <a:t>한때 현자라 불렸던 대연금술사</a:t>
            </a:r>
            <a:r>
              <a:rPr lang="en-US" altLang="ko-KR" sz="2000" dirty="0"/>
              <a:t>, </a:t>
            </a:r>
            <a:r>
              <a:rPr lang="ko-KR" altLang="en-US" sz="2000" dirty="0"/>
              <a:t>현재는 악마의 저주로 리치가 되었음</a:t>
            </a:r>
            <a:endParaRPr lang="en-US" altLang="ko-KR" sz="2000" dirty="0"/>
          </a:p>
          <a:p>
            <a:pPr>
              <a:lnSpc>
                <a:spcPct val="150000"/>
              </a:lnSpc>
            </a:pPr>
            <a:endParaRPr lang="en-US" altLang="ko-KR" sz="2000" dirty="0"/>
          </a:p>
          <a:p>
            <a:pPr>
              <a:lnSpc>
                <a:spcPct val="150000"/>
              </a:lnSpc>
            </a:pPr>
            <a:r>
              <a:rPr lang="ko-KR" altLang="en-US" sz="2000" dirty="0"/>
              <a:t>적대 개체</a:t>
            </a:r>
            <a:r>
              <a:rPr lang="en-US" altLang="ko-KR" sz="2000" dirty="0"/>
              <a:t>:</a:t>
            </a:r>
          </a:p>
          <a:p>
            <a:pPr lvl="1">
              <a:lnSpc>
                <a:spcPct val="150000"/>
              </a:lnSpc>
            </a:pPr>
            <a:r>
              <a:rPr lang="ko-KR" altLang="en-US" sz="1600" dirty="0" err="1">
                <a:solidFill>
                  <a:srgbClr val="00B050"/>
                </a:solidFill>
              </a:rPr>
              <a:t>슬라임</a:t>
            </a:r>
            <a:r>
              <a:rPr lang="ko-KR" altLang="en-US" sz="1600" dirty="0">
                <a:solidFill>
                  <a:srgbClr val="00B050"/>
                </a:solidFill>
              </a:rPr>
              <a:t> 킹</a:t>
            </a:r>
            <a:r>
              <a:rPr lang="en-US" altLang="ko-KR" sz="1600" dirty="0">
                <a:solidFill>
                  <a:srgbClr val="00B050"/>
                </a:solidFill>
              </a:rPr>
              <a:t>, </a:t>
            </a:r>
            <a:r>
              <a:rPr lang="ko-KR" altLang="en-US" sz="1600" dirty="0" err="1">
                <a:solidFill>
                  <a:srgbClr val="00B050"/>
                </a:solidFill>
              </a:rPr>
              <a:t>고블린</a:t>
            </a:r>
            <a:r>
              <a:rPr lang="ko-KR" altLang="en-US" sz="1600" dirty="0">
                <a:solidFill>
                  <a:srgbClr val="00B050"/>
                </a:solidFill>
              </a:rPr>
              <a:t> 샤먼 등의 토착 몬스터 무리</a:t>
            </a:r>
            <a:endParaRPr lang="en-US" altLang="ko-KR" sz="1600" dirty="0">
              <a:solidFill>
                <a:srgbClr val="00B050"/>
              </a:solidFill>
            </a:endParaRPr>
          </a:p>
          <a:p>
            <a:pPr lvl="1">
              <a:lnSpc>
                <a:spcPct val="150000"/>
              </a:lnSpc>
            </a:pPr>
            <a:r>
              <a:rPr lang="ko-KR" altLang="en-US" sz="16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혼돈에 뒤틀린 기사와 귀족</a:t>
            </a:r>
            <a:r>
              <a:rPr lang="en-US" altLang="ko-KR" sz="16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, </a:t>
            </a:r>
            <a:r>
              <a:rPr lang="ko-KR" altLang="en-US" sz="16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왕도 시민들</a:t>
            </a:r>
            <a:endParaRPr lang="en-US" altLang="ko-KR" sz="16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  <a:p>
            <a:pPr lvl="1">
              <a:lnSpc>
                <a:spcPct val="150000"/>
              </a:lnSpc>
            </a:pPr>
            <a:r>
              <a:rPr lang="ko-KR" altLang="en-US" sz="1600" dirty="0">
                <a:solidFill>
                  <a:srgbClr val="FF0000"/>
                </a:solidFill>
              </a:rPr>
              <a:t>지성 잃은 악마들</a:t>
            </a:r>
            <a:endParaRPr lang="en-US" altLang="ko-KR" sz="1600" dirty="0">
              <a:solidFill>
                <a:srgbClr val="FF0000"/>
              </a:solidFill>
            </a:endParaRPr>
          </a:p>
          <a:p>
            <a:pPr lvl="1">
              <a:lnSpc>
                <a:spcPct val="150000"/>
              </a:lnSpc>
            </a:pPr>
            <a:r>
              <a:rPr lang="ko-KR" altLang="en-US" sz="1600" dirty="0">
                <a:solidFill>
                  <a:srgbClr val="7030A0"/>
                </a:solidFill>
              </a:rPr>
              <a:t>심층부의 재앙의 근원 </a:t>
            </a:r>
            <a:r>
              <a:rPr lang="en-US" altLang="ko-KR" sz="1600" dirty="0">
                <a:solidFill>
                  <a:srgbClr val="7030A0"/>
                </a:solidFill>
              </a:rPr>
              <a:t>(</a:t>
            </a:r>
            <a:r>
              <a:rPr lang="ko-KR" altLang="en-US" sz="1600" dirty="0">
                <a:solidFill>
                  <a:srgbClr val="7030A0"/>
                </a:solidFill>
              </a:rPr>
              <a:t>엔트로피</a:t>
            </a:r>
            <a:r>
              <a:rPr lang="en-US" altLang="ko-KR" sz="1600" dirty="0">
                <a:solidFill>
                  <a:srgbClr val="7030A0"/>
                </a:solidFill>
              </a:rPr>
              <a:t>)</a:t>
            </a:r>
          </a:p>
          <a:p>
            <a:pPr lvl="1">
              <a:lnSpc>
                <a:spcPct val="150000"/>
              </a:lnSpc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23638421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BA4688-910A-3335-29E5-E5944A09F3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C0D987-90C5-9E62-DB52-F0819C4F82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 </a:t>
            </a:r>
            <a:r>
              <a:rPr lang="ko-KR" altLang="en-US" dirty="0"/>
              <a:t>구조 및 형태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0ADB100-4B70-7BE9-656E-A26599AB29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 altLang="ko-KR" sz="2000" dirty="0"/>
              <a:t>4.1. Flow Chart</a:t>
            </a:r>
          </a:p>
          <a:p>
            <a:pPr>
              <a:lnSpc>
                <a:spcPct val="100000"/>
              </a:lnSpc>
            </a:pPr>
            <a:endParaRPr lang="en-US" altLang="ko-KR" sz="2000" dirty="0"/>
          </a:p>
          <a:p>
            <a:pPr>
              <a:lnSpc>
                <a:spcPct val="100000"/>
              </a:lnSpc>
            </a:pPr>
            <a:r>
              <a:rPr lang="en-US" altLang="ko-KR" sz="2000" dirty="0"/>
              <a:t>4.2. UI</a:t>
            </a:r>
          </a:p>
          <a:p>
            <a:pPr>
              <a:lnSpc>
                <a:spcPct val="100000"/>
              </a:lnSpc>
            </a:pPr>
            <a:endParaRPr lang="en-US" altLang="ko-KR" sz="2000" dirty="0"/>
          </a:p>
          <a:p>
            <a:pPr>
              <a:lnSpc>
                <a:spcPct val="100000"/>
              </a:lnSpc>
            </a:pPr>
            <a:r>
              <a:rPr lang="en-US" altLang="ko-KR" sz="2000" dirty="0"/>
              <a:t>4.3. </a:t>
            </a:r>
            <a:r>
              <a:rPr lang="ko-KR" altLang="en-US" sz="2000" dirty="0" err="1"/>
              <a:t>키설정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25887174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41DA2F-DDF1-DD37-D1F6-16585036CB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09EA54C-C486-19BF-D447-A8896F36B5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4.1. Flow Chart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3EDD2DE-C1A2-A75B-D7E7-FB44BD294F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dirty="0"/>
              <a:t>진행 흐름</a:t>
            </a:r>
            <a:endParaRPr lang="en-US" altLang="ko-KR" sz="2000" dirty="0"/>
          </a:p>
          <a:p>
            <a:pPr lvl="1">
              <a:lnSpc>
                <a:spcPct val="150000"/>
              </a:lnSpc>
            </a:pPr>
            <a:r>
              <a:rPr lang="ko-KR" altLang="en-US" sz="1400" dirty="0"/>
              <a:t>기지 </a:t>
            </a:r>
            <a:r>
              <a:rPr lang="en-US" altLang="ko-KR" sz="1400" dirty="0"/>
              <a:t>– </a:t>
            </a:r>
            <a:r>
              <a:rPr lang="ko-KR" altLang="en-US" sz="1400" dirty="0"/>
              <a:t>로그라이크 식 업그레이드 </a:t>
            </a:r>
            <a:r>
              <a:rPr lang="en-US" altLang="ko-KR" sz="1400" dirty="0"/>
              <a:t>(</a:t>
            </a:r>
            <a:r>
              <a:rPr lang="ko-KR" altLang="en-US" sz="1400" dirty="0"/>
              <a:t>라이프베슬</a:t>
            </a:r>
            <a:r>
              <a:rPr lang="en-US" altLang="ko-KR" sz="1400" dirty="0"/>
              <a:t>)</a:t>
            </a:r>
          </a:p>
          <a:p>
            <a:pPr lvl="1">
              <a:lnSpc>
                <a:spcPct val="150000"/>
              </a:lnSpc>
            </a:pPr>
            <a:r>
              <a:rPr lang="ko-KR" altLang="en-US" sz="1400" dirty="0"/>
              <a:t>스테이지 노드 이동</a:t>
            </a:r>
            <a:endParaRPr lang="en-US" altLang="ko-KR" sz="1400" dirty="0"/>
          </a:p>
          <a:p>
            <a:pPr lvl="1">
              <a:lnSpc>
                <a:spcPct val="150000"/>
              </a:lnSpc>
            </a:pPr>
            <a:r>
              <a:rPr lang="ko-KR" altLang="en-US" sz="1400" dirty="0"/>
              <a:t>이벤트</a:t>
            </a:r>
            <a:r>
              <a:rPr lang="en-US" altLang="ko-KR" sz="1400" dirty="0"/>
              <a:t>/</a:t>
            </a:r>
            <a:r>
              <a:rPr lang="ko-KR" altLang="en-US" sz="1400" dirty="0"/>
              <a:t>상점</a:t>
            </a:r>
            <a:r>
              <a:rPr lang="en-US" altLang="ko-KR" sz="1400" dirty="0"/>
              <a:t>/</a:t>
            </a:r>
            <a:r>
              <a:rPr lang="ko-KR" altLang="en-US" sz="1400" dirty="0"/>
              <a:t>전투</a:t>
            </a:r>
            <a:endParaRPr lang="en-US" altLang="ko-KR" sz="1400" dirty="0"/>
          </a:p>
          <a:p>
            <a:pPr lvl="1">
              <a:lnSpc>
                <a:spcPct val="150000"/>
              </a:lnSpc>
            </a:pPr>
            <a:r>
              <a:rPr lang="ko-KR" altLang="en-US" sz="1400" dirty="0" err="1"/>
              <a:t>보스전</a:t>
            </a:r>
            <a:endParaRPr lang="en-US" altLang="ko-KR" sz="1400" dirty="0"/>
          </a:p>
          <a:p>
            <a:pPr marL="0" indent="0">
              <a:lnSpc>
                <a:spcPct val="150000"/>
              </a:lnSpc>
              <a:buNone/>
            </a:pPr>
            <a:endParaRPr lang="en-US" altLang="ko-KR" sz="2000" dirty="0"/>
          </a:p>
          <a:p>
            <a:pPr>
              <a:lnSpc>
                <a:spcPct val="150000"/>
              </a:lnSpc>
            </a:pPr>
            <a:r>
              <a:rPr lang="ko-KR" altLang="en-US" sz="2000" dirty="0"/>
              <a:t>스테이지 구성</a:t>
            </a:r>
            <a:endParaRPr lang="en-US" altLang="ko-KR" sz="2000" dirty="0"/>
          </a:p>
          <a:p>
            <a:pPr lvl="1">
              <a:lnSpc>
                <a:spcPct val="150000"/>
              </a:lnSpc>
            </a:pPr>
            <a:r>
              <a:rPr lang="ko-KR" altLang="en-US" sz="1400" dirty="0"/>
              <a:t>초원</a:t>
            </a:r>
            <a:r>
              <a:rPr lang="en-US" altLang="ko-KR" sz="1400" dirty="0"/>
              <a:t> / </a:t>
            </a:r>
            <a:r>
              <a:rPr lang="ko-KR" altLang="en-US" sz="1400" dirty="0"/>
              <a:t>외곽</a:t>
            </a:r>
            <a:r>
              <a:rPr lang="en-US" altLang="ko-KR" sz="1400" dirty="0"/>
              <a:t> / </a:t>
            </a:r>
            <a:r>
              <a:rPr lang="ko-KR" altLang="en-US" sz="1400" dirty="0"/>
              <a:t>성도</a:t>
            </a:r>
            <a:r>
              <a:rPr lang="en-US" altLang="ko-KR" sz="1400" dirty="0"/>
              <a:t> / </a:t>
            </a:r>
            <a:r>
              <a:rPr lang="ko-KR" altLang="en-US" sz="1400" dirty="0"/>
              <a:t>왕궁</a:t>
            </a:r>
            <a:r>
              <a:rPr lang="en-US" altLang="ko-KR" sz="1400" dirty="0"/>
              <a:t> / </a:t>
            </a:r>
            <a:r>
              <a:rPr lang="ko-KR" altLang="en-US" sz="1400" dirty="0"/>
              <a:t>지하</a:t>
            </a:r>
            <a:endParaRPr lang="en-US" altLang="ko-KR" sz="1400" dirty="0"/>
          </a:p>
          <a:p>
            <a:pPr lvl="1">
              <a:lnSpc>
                <a:spcPct val="150000"/>
              </a:lnSpc>
            </a:pPr>
            <a:r>
              <a:rPr lang="ko-KR" altLang="en-US" sz="1400" dirty="0"/>
              <a:t>지하는 일반 막보다도 적은 노드와 최종 보스로 구성</a:t>
            </a:r>
            <a:endParaRPr lang="en-US" altLang="ko-KR" sz="1400" dirty="0"/>
          </a:p>
        </p:txBody>
      </p:sp>
    </p:spTree>
    <p:extLst>
      <p:ext uri="{BB962C8B-B14F-4D97-AF65-F5344CB8AC3E}">
        <p14:creationId xmlns:p14="http://schemas.microsoft.com/office/powerpoint/2010/main" val="31934092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127</TotalTime>
  <Words>334</Words>
  <Application>Microsoft Office PowerPoint</Application>
  <PresentationFormat>와이드스크린</PresentationFormat>
  <Paragraphs>64</Paragraphs>
  <Slides>10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</vt:i4>
      </vt:variant>
    </vt:vector>
  </HeadingPairs>
  <TitlesOfParts>
    <vt:vector size="13" baseType="lpstr">
      <vt:lpstr>맑은 고딕</vt:lpstr>
      <vt:lpstr>Arial</vt:lpstr>
      <vt:lpstr>Office 테마</vt:lpstr>
      <vt:lpstr>Entropy</vt:lpstr>
      <vt:lpstr>목차</vt:lpstr>
      <vt:lpstr>1. 게임 개요</vt:lpstr>
      <vt:lpstr>2. 유사 게임 분석</vt:lpstr>
      <vt:lpstr>3. 세계관</vt:lpstr>
      <vt:lpstr>3.1. 전체 세계관</vt:lpstr>
      <vt:lpstr>3.2. 스토리</vt:lpstr>
      <vt:lpstr>3.3. 캐릭터</vt:lpstr>
      <vt:lpstr>4. 구조 및 형태</vt:lpstr>
      <vt:lpstr>4.1. Flow Chart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cho kevin</dc:creator>
  <cp:lastModifiedBy>cho kevin</cp:lastModifiedBy>
  <cp:revision>46</cp:revision>
  <dcterms:created xsi:type="dcterms:W3CDTF">2026-07-11T11:17:54Z</dcterms:created>
  <dcterms:modified xsi:type="dcterms:W3CDTF">2026-07-12T11:37:48Z</dcterms:modified>
</cp:coreProperties>
</file>